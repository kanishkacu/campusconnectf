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0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JWbhq1K-Y0TF-XFvYIoQh9xRITBT0ap/view?usp=shar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godb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1417320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— MVP Stage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97840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Deck Template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694944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(fill)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6309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</a:t>
            </a:r>
            <a:r>
              <a:rPr lang="en-US" sz="1600" dirty="0"/>
              <a:t>End2Enders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|   Team-ID: [</a:t>
            </a:r>
            <a:r>
              <a:rPr lang="en-US" sz="1500" spc="-20" dirty="0">
                <a:solidFill>
                  <a:srgbClr val="091724"/>
                </a:solidFill>
                <a:latin typeface="Calibri"/>
                <a:cs typeface="Calibri"/>
              </a:rPr>
              <a:t>P-</a:t>
            </a:r>
            <a:r>
              <a:rPr lang="en-US" sz="1500" spc="-25" dirty="0">
                <a:solidFill>
                  <a:srgbClr val="091724"/>
                </a:solidFill>
                <a:latin typeface="Calibri"/>
                <a:cs typeface="Calibri"/>
              </a:rPr>
              <a:t>2023-</a:t>
            </a:r>
            <a:r>
              <a:rPr lang="en-US" sz="1500" spc="-30" dirty="0">
                <a:solidFill>
                  <a:srgbClr val="091724"/>
                </a:solidFill>
                <a:latin typeface="Calibri"/>
                <a:cs typeface="Calibri"/>
              </a:rPr>
              <a:t>27-FW-</a:t>
            </a:r>
            <a:r>
              <a:rPr lang="en-US" sz="1500" spc="-25" dirty="0">
                <a:solidFill>
                  <a:srgbClr val="091724"/>
                </a:solidFill>
                <a:latin typeface="Calibri"/>
                <a:cs typeface="Calibri"/>
              </a:rPr>
              <a:t>021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[</a:t>
            </a:r>
            <a:r>
              <a:rPr lang="en-US" sz="1600" dirty="0"/>
              <a:t>Kanishka C U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|   Members: [</a:t>
            </a:r>
            <a:r>
              <a:rPr lang="en-US" sz="1600" dirty="0"/>
              <a:t>Yuvarani V, Yuvan Raja V, Harshith R, </a:t>
            </a:r>
            <a:r>
              <a:rPr lang="en-US" sz="1600" dirty="0" err="1"/>
              <a:t>Kanishkumar</a:t>
            </a:r>
            <a:r>
              <a:rPr lang="en-US" sz="1600" dirty="0"/>
              <a:t> G R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[</a:t>
            </a:r>
            <a:r>
              <a:rPr lang="en-US" sz="1600" dirty="0" err="1"/>
              <a:t>Ragunanthan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  |   Lab Code: [FW]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[2023-27]   |   Date: [2026-03-06]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SOI_MVP_End2Enders_FW_2026-03-06.pptx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09560" y="1828800"/>
            <a:ext cx="361188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0" y="2057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246888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deck (.pptx) — this file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upload (MP4, ≤ 2 min)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(usable by end-users)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feedback + metrics + iteration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Repo/CAD/Notebook links (in deck)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907024"/>
            <a:ext cx="107286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sz="1000" dirty="0"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Quick Comparison (What changes at MVP?)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1568161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74650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28281" y="1691640"/>
            <a:ext cx="290109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38009" y="17465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29379" y="1691640"/>
            <a:ext cx="290109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39107" y="17465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30477" y="1691640"/>
            <a:ext cx="2901098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40205" y="17465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19456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24942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End-User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28281" y="219456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38009" y="224942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Identify the difficulty students face in finding reliable notes and past papers.</a:t>
            </a:r>
          </a:p>
        </p:txBody>
      </p:sp>
      <p:sp>
        <p:nvSpPr>
          <p:cNvPr id="18" name="Shape 16"/>
          <p:cNvSpPr/>
          <p:nvPr/>
        </p:nvSpPr>
        <p:spPr>
          <a:xfrm>
            <a:off x="5429379" y="219456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539107" y="224942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Student interviews and observations showing resources are scattered across WhatsApp and drives.</a:t>
            </a:r>
          </a:p>
        </p:txBody>
      </p:sp>
      <p:sp>
        <p:nvSpPr>
          <p:cNvPr id="20" name="Shape 18"/>
          <p:cNvSpPr/>
          <p:nvPr/>
        </p:nvSpPr>
        <p:spPr>
          <a:xfrm>
            <a:off x="8330477" y="219456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40205" y="224942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Clear problem statement and identified target users (juniors &amp; seniors).</a:t>
            </a:r>
          </a:p>
        </p:txBody>
      </p:sp>
      <p:sp>
        <p:nvSpPr>
          <p:cNvPr id="22" name="Shape 20"/>
          <p:cNvSpPr/>
          <p:nvPr/>
        </p:nvSpPr>
        <p:spPr>
          <a:xfrm>
            <a:off x="960120" y="269748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275234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8281" y="269748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638009" y="275234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Explore solutions to improve academic resource sharing.</a:t>
            </a:r>
          </a:p>
        </p:txBody>
      </p:sp>
      <p:sp>
        <p:nvSpPr>
          <p:cNvPr id="26" name="Shape 24"/>
          <p:cNvSpPr/>
          <p:nvPr/>
        </p:nvSpPr>
        <p:spPr>
          <a:xfrm>
            <a:off x="5429379" y="269748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539107" y="275234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Comparison of possible ideas and feasibility discussion.</a:t>
            </a:r>
          </a:p>
        </p:txBody>
      </p:sp>
      <p:sp>
        <p:nvSpPr>
          <p:cNvPr id="28" name="Shape 26"/>
          <p:cNvSpPr/>
          <p:nvPr/>
        </p:nvSpPr>
        <p:spPr>
          <a:xfrm>
            <a:off x="8330477" y="269748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440205" y="275234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Selected idea: Campus Connect platform for verified study resources.</a:t>
            </a:r>
          </a:p>
        </p:txBody>
      </p:sp>
      <p:sp>
        <p:nvSpPr>
          <p:cNvPr id="30" name="Shape 28"/>
          <p:cNvSpPr/>
          <p:nvPr/>
        </p:nvSpPr>
        <p:spPr>
          <a:xfrm>
            <a:off x="960120" y="320040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25526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28281" y="320040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638009" y="325526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Prove that the platform can technically allow upload and sharing of notes.</a:t>
            </a:r>
          </a:p>
        </p:txBody>
      </p:sp>
      <p:sp>
        <p:nvSpPr>
          <p:cNvPr id="34" name="Shape 32"/>
          <p:cNvSpPr/>
          <p:nvPr/>
        </p:nvSpPr>
        <p:spPr>
          <a:xfrm>
            <a:off x="5429379" y="320040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539107" y="325526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Initial implementation and testing of file upload and access.</a:t>
            </a:r>
          </a:p>
        </p:txBody>
      </p:sp>
      <p:sp>
        <p:nvSpPr>
          <p:cNvPr id="36" name="Shape 34"/>
          <p:cNvSpPr/>
          <p:nvPr/>
        </p:nvSpPr>
        <p:spPr>
          <a:xfrm>
            <a:off x="8330477" y="320040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40205" y="325526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Working proof that notes can be shared through the system.</a:t>
            </a:r>
          </a:p>
        </p:txBody>
      </p:sp>
      <p:sp>
        <p:nvSpPr>
          <p:cNvPr id="38" name="Shape 36"/>
          <p:cNvSpPr/>
          <p:nvPr/>
        </p:nvSpPr>
        <p:spPr>
          <a:xfrm>
            <a:off x="960120" y="370332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69848" y="375818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28281" y="370332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638009" y="375818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Build an end-to-end working version of the system.</a:t>
            </a:r>
          </a:p>
        </p:txBody>
      </p:sp>
      <p:sp>
        <p:nvSpPr>
          <p:cNvPr id="42" name="Shape 40"/>
          <p:cNvSpPr/>
          <p:nvPr/>
        </p:nvSpPr>
        <p:spPr>
          <a:xfrm>
            <a:off x="5429379" y="370332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539107" y="375818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Demo showing login, upload, and download features.</a:t>
            </a:r>
          </a:p>
        </p:txBody>
      </p:sp>
      <p:sp>
        <p:nvSpPr>
          <p:cNvPr id="44" name="Shape 42"/>
          <p:cNvSpPr/>
          <p:nvPr/>
        </p:nvSpPr>
        <p:spPr>
          <a:xfrm>
            <a:off x="8330477" y="370332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5" name="Text 43"/>
          <p:cNvSpPr/>
          <p:nvPr/>
        </p:nvSpPr>
        <p:spPr>
          <a:xfrm>
            <a:off x="8440205" y="375818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Integrated prototype of Campus Connect.</a:t>
            </a:r>
          </a:p>
        </p:txBody>
      </p:sp>
      <p:sp>
        <p:nvSpPr>
          <p:cNvPr id="46" name="Shape 44"/>
          <p:cNvSpPr/>
          <p:nvPr/>
        </p:nvSpPr>
        <p:spPr>
          <a:xfrm>
            <a:off x="960120" y="4206240"/>
            <a:ext cx="156816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261104"/>
            <a:ext cx="1348705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(NOW)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28281" y="420624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638009" y="42611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Test the platform with real students and collect feedback.</a:t>
            </a:r>
          </a:p>
        </p:txBody>
      </p:sp>
      <p:sp>
        <p:nvSpPr>
          <p:cNvPr id="50" name="Shape 48"/>
          <p:cNvSpPr/>
          <p:nvPr/>
        </p:nvSpPr>
        <p:spPr>
          <a:xfrm>
            <a:off x="5429379" y="420624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539107" y="42611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User sessions, feedback forms, and usage metrics.</a:t>
            </a:r>
          </a:p>
        </p:txBody>
      </p:sp>
      <p:sp>
        <p:nvSpPr>
          <p:cNvPr id="52" name="Shape 50"/>
          <p:cNvSpPr/>
          <p:nvPr/>
        </p:nvSpPr>
        <p:spPr>
          <a:xfrm>
            <a:off x="8330477" y="4206240"/>
            <a:ext cx="290109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440205" y="4261104"/>
            <a:ext cx="268164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Pilot-ready Campus Connect MVP with validation evidence.</a:t>
            </a:r>
          </a:p>
        </p:txBody>
      </p:sp>
      <p:sp>
        <p:nvSpPr>
          <p:cNvPr id="54" name="Text 52"/>
          <p:cNvSpPr/>
          <p:nvPr/>
        </p:nvSpPr>
        <p:spPr>
          <a:xfrm>
            <a:off x="914400" y="57424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Campus Connect aims to solve the problem of scattered and unreliable academic resources by providing a centralized platform for students to share verified study materials.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End-User Reconfirmation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user (fill)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090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end-user: </a:t>
            </a:r>
            <a:r>
              <a:rPr lang="en-US" sz="1400" dirty="0"/>
              <a:t>Primary: College juniors looking for notes, past papers, and guidance</a:t>
            </a:r>
            <a:br>
              <a:rPr lang="en-US" sz="1400" dirty="0"/>
            </a:br>
            <a:r>
              <a:rPr lang="en-US" sz="1400" dirty="0"/>
              <a:t>Secondary: Seniors willing to share study materials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(1–2 lines):</a:t>
            </a:r>
            <a:r>
              <a:rPr lang="en-US" sz="1400" dirty="0"/>
              <a:t>Students struggle to find reliable study materials because resources are scattered across WhatsApp groups, personal drives, and chats.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environment: </a:t>
            </a:r>
            <a:r>
              <a:rPr lang="en-US" sz="1400" dirty="0"/>
              <a:t>College students rely on peer-shared resources for exams and assignments, but there is no centralized platform to access verified materials.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(current state metric):</a:t>
            </a:r>
            <a:r>
              <a:rPr lang="en-US" sz="1400" dirty="0"/>
              <a:t>Around 80% of students depend on unorganized peer drives, which often contain missing or outdated files.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/ why urgent: </a:t>
            </a:r>
            <a:r>
              <a:rPr lang="en-US" sz="1400" dirty="0"/>
              <a:t>Students need quick access to trusted resources to reduce time spent searching and improve academic preparation.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(1 line)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For college juniors, who struggle to find reliable study resources, Campus Connect provides a centralized platform to access verified notes and past papers, enabling faster and more reliable learning.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388620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 anchor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Primary metric:</a:t>
            </a:r>
            <a:br>
              <a:rPr lang="en-US" sz="1600" dirty="0"/>
            </a:br>
            <a:r>
              <a:rPr lang="en-US" sz="1600" dirty="0"/>
              <a:t>Time required to find study materials</a:t>
            </a:r>
          </a:p>
          <a:p>
            <a:r>
              <a:rPr lang="en-US" sz="1600" dirty="0"/>
              <a:t>Goal:</a:t>
            </a:r>
            <a:br>
              <a:rPr lang="en-US" sz="1600" dirty="0"/>
            </a:br>
            <a:r>
              <a:rPr lang="en-US" sz="1600" dirty="0"/>
              <a:t>Reduce resource search time by at least 50%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Recap (1 slide only)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in prototype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• End-to-end flow achieved: Students can register/login, upload notes, and download study materials.</a:t>
            </a:r>
          </a:p>
          <a:p>
            <a:r>
              <a:rPr lang="en-US" sz="1400" dirty="0"/>
              <a:t>• Key experiments/metrics achieved: File upload, storage, and retrieval were successfully tested using cloud storage and database integration.</a:t>
            </a:r>
          </a:p>
          <a:p>
            <a:r>
              <a:rPr lang="en-US" sz="1400" dirty="0"/>
              <a:t>• Constraints discovered: Need improvements in UI navigation, search functionality, and user testing with real students.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gaps blocking MVP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800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• End-to-end flow achieved: Students can register/login, upload notes, and download study materials.</a:t>
            </a:r>
          </a:p>
          <a:p>
            <a:r>
              <a:rPr lang="en-US" sz="1400" dirty="0"/>
              <a:t>• Key experiments/metrics achieved: File upload, storage, and retrieval were successfully tested using cloud storage and database integration.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at MVP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• Platform will be tested with real students instead of only team members.</a:t>
            </a:r>
          </a:p>
          <a:p>
            <a:r>
              <a:rPr lang="en-US" dirty="0"/>
              <a:t>• Structured feedback will be collected from users about usability and usefulness.</a:t>
            </a:r>
          </a:p>
          <a:p>
            <a:r>
              <a:rPr lang="en-US" dirty="0"/>
              <a:t>• Performance metrics like time to find resources and user engagement will be measured.</a:t>
            </a:r>
          </a:p>
          <a:p>
            <a:r>
              <a:rPr lang="en-US" dirty="0"/>
              <a:t>• Iteration will be done based on feedback to improve the platform.</a:t>
            </a:r>
          </a:p>
          <a:p>
            <a:r>
              <a:rPr lang="en-US" dirty="0"/>
              <a:t>• Evidence will include usage logs, screenshots, and feedback forms.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Plan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Campus Connect MVP focuses on testing the platform with real student users, collecting feedback, and validating whether it improves access to study materials.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Hypothesis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hypothesis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800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We believe that college juniors will find study materials faster and more easily if they use Campus Connect, a centralized platform for sharing verified notes and past papers within the college environment.</a:t>
            </a:r>
          </a:p>
          <a:p>
            <a:r>
              <a:rPr lang="en-US" sz="1600" dirty="0"/>
              <a:t>We will measure this by time taken to find study resources and user engagement, and consider it successful if students can access materials at least 50% faster than traditional methods.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3474720"/>
            <a:ext cx="5760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(minimum 2 metrics)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182880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9848" y="384962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3794760"/>
            <a:ext cx="137160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898648" y="384962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3794760"/>
            <a:ext cx="2011680" cy="50292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70248" y="384962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measured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2976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9848" y="435254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pain metric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42976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Reduce search time by </a:t>
            </a:r>
            <a:r>
              <a:rPr lang="en-US" sz="1100" b="1" dirty="0"/>
              <a:t>50%</a:t>
            </a:r>
            <a:endParaRPr sz="1100" dirty="0"/>
          </a:p>
        </p:txBody>
      </p:sp>
      <p:sp>
        <p:nvSpPr>
          <p:cNvPr id="19" name="Text 17"/>
          <p:cNvSpPr/>
          <p:nvPr/>
        </p:nvSpPr>
        <p:spPr>
          <a:xfrm>
            <a:off x="2898648" y="435254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429768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200" dirty="0"/>
              <a:t>Time taken by students to locate and download notes</a:t>
            </a:r>
          </a:p>
        </p:txBody>
      </p:sp>
      <p:sp>
        <p:nvSpPr>
          <p:cNvPr id="21" name="Text 19"/>
          <p:cNvSpPr/>
          <p:nvPr/>
        </p:nvSpPr>
        <p:spPr>
          <a:xfrm>
            <a:off x="4270248" y="435254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48006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485546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480060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At least </a:t>
            </a:r>
            <a:r>
              <a:rPr lang="en-US" sz="1100" b="1" dirty="0"/>
              <a:t>60% active participation</a:t>
            </a:r>
            <a:endParaRPr sz="1100" dirty="0"/>
          </a:p>
        </p:txBody>
      </p:sp>
      <p:sp>
        <p:nvSpPr>
          <p:cNvPr id="25" name="Text 23"/>
          <p:cNvSpPr/>
          <p:nvPr/>
        </p:nvSpPr>
        <p:spPr>
          <a:xfrm>
            <a:off x="2898648" y="485546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60520" y="480060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Number of uploads, downloads, and comments</a:t>
            </a:r>
            <a:endParaRPr sz="1100" dirty="0"/>
          </a:p>
        </p:txBody>
      </p:sp>
      <p:sp>
        <p:nvSpPr>
          <p:cNvPr id="27" name="Text 25"/>
          <p:cNvSpPr/>
          <p:nvPr/>
        </p:nvSpPr>
        <p:spPr>
          <a:xfrm>
            <a:off x="4270248" y="485546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5303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69848" y="5358384"/>
            <a:ext cx="16093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adoption / repeat use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88920" y="53035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000" dirty="0"/>
              <a:t>5–10 students actively using the system</a:t>
            </a:r>
            <a:endParaRPr sz="1000" dirty="0"/>
          </a:p>
        </p:txBody>
      </p:sp>
      <p:sp>
        <p:nvSpPr>
          <p:cNvPr id="31" name="Text 29"/>
          <p:cNvSpPr/>
          <p:nvPr/>
        </p:nvSpPr>
        <p:spPr>
          <a:xfrm>
            <a:off x="2898648" y="5358384"/>
            <a:ext cx="115214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60520" y="5303520"/>
            <a:ext cx="2011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100" dirty="0"/>
              <a:t>Number of registered and returning users</a:t>
            </a:r>
          </a:p>
        </p:txBody>
      </p:sp>
      <p:sp>
        <p:nvSpPr>
          <p:cNvPr id="33" name="Text 31"/>
          <p:cNvSpPr/>
          <p:nvPr/>
        </p:nvSpPr>
        <p:spPr>
          <a:xfrm>
            <a:off x="4270248" y="5358384"/>
            <a:ext cx="17922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3474720"/>
            <a:ext cx="4892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949440" y="37033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target (pick one)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4114800"/>
            <a:ext cx="4251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Tier 2 (Most teams): 5–10 users + ≥2 KPIs + 1 iteration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(Thin Slice)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user journey (fill)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User goal:</a:t>
            </a:r>
            <a:br>
              <a:rPr lang="en-US" sz="1600" dirty="0"/>
            </a:br>
            <a:r>
              <a:rPr lang="en-US" sz="1600" dirty="0"/>
              <a:t>Find and download reliable study materials quickly.</a:t>
            </a:r>
          </a:p>
          <a:p>
            <a:r>
              <a:rPr lang="en-US" sz="1600" dirty="0"/>
              <a:t>Step 1:</a:t>
            </a:r>
            <a:br>
              <a:rPr lang="en-US" sz="1600" dirty="0"/>
            </a:br>
            <a:r>
              <a:rPr lang="en-US" sz="1600" dirty="0"/>
              <a:t>Student registers or logs into Campus Connect.</a:t>
            </a:r>
          </a:p>
          <a:p>
            <a:r>
              <a:rPr lang="en-US" sz="1600" dirty="0"/>
              <a:t>Step 2:</a:t>
            </a:r>
            <a:br>
              <a:rPr lang="en-US" sz="1600" dirty="0"/>
            </a:br>
            <a:r>
              <a:rPr lang="en-US" sz="1600" dirty="0"/>
              <a:t>Student searches or browses notes and past question papers by subject.</a:t>
            </a:r>
          </a:p>
          <a:p>
            <a:r>
              <a:rPr lang="en-US" sz="1600" dirty="0"/>
              <a:t>Step 3:</a:t>
            </a:r>
            <a:br>
              <a:rPr lang="en-US" sz="1600" dirty="0"/>
            </a:br>
            <a:r>
              <a:rPr lang="en-US" sz="1600" dirty="0"/>
              <a:t>Student downloads the required study materials shared by seniors.</a:t>
            </a:r>
          </a:p>
          <a:p>
            <a:r>
              <a:rPr lang="en-US" sz="1600" dirty="0"/>
              <a:t>Output / outcome:</a:t>
            </a:r>
            <a:br>
              <a:rPr lang="en-US" sz="1600" dirty="0"/>
            </a:br>
            <a:r>
              <a:rPr lang="en-US" sz="1600" dirty="0"/>
              <a:t>Students successfully access verified notes and past papers in one platform.</a:t>
            </a:r>
          </a:p>
          <a:p>
            <a:r>
              <a:rPr lang="en-US" sz="1600" dirty="0"/>
              <a:t>Define “Done”:</a:t>
            </a:r>
            <a:br>
              <a:rPr lang="en-US" sz="1600" dirty="0"/>
            </a:br>
            <a:r>
              <a:rPr lang="en-US" sz="1600" dirty="0"/>
              <a:t>A student can login, find a resource, and download it without any assistance.</a:t>
            </a:r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(must-have)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• Student login / authentication</a:t>
            </a:r>
            <a:br>
              <a:rPr lang="en-US" dirty="0"/>
            </a:br>
            <a:r>
              <a:rPr lang="en-US" dirty="0"/>
              <a:t>• Upload notes and past papers</a:t>
            </a:r>
            <a:br>
              <a:rPr lang="en-US" dirty="0"/>
            </a:br>
            <a:r>
              <a:rPr lang="en-US" dirty="0"/>
              <a:t>• Search and download study materials</a:t>
            </a:r>
            <a:br>
              <a:rPr lang="en-US" dirty="0"/>
            </a:br>
            <a:r>
              <a:rPr lang="en-US" dirty="0"/>
              <a:t>• Cloud storage integration for files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379476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02336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(defer)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43484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• Advanced UI design improvements</a:t>
            </a:r>
            <a:br>
              <a:rPr lang="en-US" dirty="0"/>
            </a:br>
            <a:r>
              <a:rPr lang="en-US" dirty="0"/>
              <a:t>• AI-based note recommendation</a:t>
            </a:r>
            <a:br>
              <a:rPr lang="en-US" dirty="0"/>
            </a:br>
            <a:r>
              <a:rPr lang="en-US" dirty="0"/>
              <a:t>• Mobile app version</a:t>
            </a:r>
            <a:br>
              <a:rPr lang="en-US" dirty="0"/>
            </a:br>
            <a:r>
              <a:rPr lang="en-US" dirty="0"/>
              <a:t>• Advanced analytics dashboard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 (Real Context)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who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/>
              <a:t>Deployment site(s):</a:t>
            </a:r>
            <a:br>
              <a:rPr lang="en-US" sz="1200" dirty="0"/>
            </a:br>
            <a:r>
              <a:rPr lang="en-US" sz="1200" dirty="0"/>
              <a:t>College campus / student community</a:t>
            </a:r>
          </a:p>
          <a:p>
            <a:r>
              <a:rPr lang="en-US" sz="1200" b="1" dirty="0"/>
              <a:t>End-user group:</a:t>
            </a:r>
            <a:br>
              <a:rPr lang="en-US" sz="1200" dirty="0"/>
            </a:br>
            <a:r>
              <a:rPr lang="en-US" sz="1200" dirty="0"/>
              <a:t>Primary: College juniors</a:t>
            </a:r>
            <a:br>
              <a:rPr lang="en-US" sz="1200" dirty="0"/>
            </a:br>
            <a:r>
              <a:rPr lang="en-US" sz="1200" dirty="0"/>
              <a:t>Secondary: Seniors sharing study materials</a:t>
            </a:r>
          </a:p>
          <a:p>
            <a:r>
              <a:rPr lang="en-US" sz="1200" b="1" dirty="0"/>
              <a:t>Planned user count:</a:t>
            </a:r>
            <a:br>
              <a:rPr lang="en-US" sz="1200" dirty="0"/>
            </a:br>
            <a:r>
              <a:rPr lang="en-US" sz="1200" dirty="0"/>
              <a:t>5–10 students</a:t>
            </a:r>
          </a:p>
          <a:p>
            <a:r>
              <a:rPr lang="en-US" sz="1200" b="1" dirty="0"/>
              <a:t>Duration (days):</a:t>
            </a:r>
            <a:br>
              <a:rPr lang="en-US" sz="1200" dirty="0"/>
            </a:br>
            <a:r>
              <a:rPr lang="en-US" sz="1200" dirty="0"/>
              <a:t>7–10 days of testing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760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onboarding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URL: Campus Connect web platform link</a:t>
            </a:r>
          </a:p>
          <a:p>
            <a:r>
              <a:rPr lang="en-US" sz="1400" dirty="0"/>
              <a:t>• Credentials: Student login using email / registered account</a:t>
            </a:r>
          </a:p>
          <a:p>
            <a:r>
              <a:rPr lang="en-US" sz="1400" dirty="0"/>
              <a:t>• Simple instruction card: Steps to register, upload notes, and download materials</a:t>
            </a:r>
          </a:p>
          <a:p>
            <a:r>
              <a:rPr lang="en-US" sz="1400" dirty="0"/>
              <a:t>• Support contact during test: Project team members available for assistance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privacy / ethics (minimum)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• Students participate voluntarily with consent</a:t>
            </a:r>
          </a:p>
          <a:p>
            <a:r>
              <a:rPr lang="en-US" dirty="0"/>
              <a:t>• No sensitive personal information collected</a:t>
            </a:r>
          </a:p>
          <a:p>
            <a:r>
              <a:rPr lang="en-US" dirty="0"/>
              <a:t>• Only academic resources are shared on the platform</a:t>
            </a:r>
          </a:p>
          <a:p>
            <a:r>
              <a:rPr lang="en-US" dirty="0"/>
              <a:t>• Student data will be used only for testing and feedback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SIMULATED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3821937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/ step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82057" y="1783080"/>
            <a:ext cx="143322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91785" y="18379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5283" y="1783080"/>
            <a:ext cx="143322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25011" y="18379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48509" y="1783080"/>
            <a:ext cx="3583066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58237" y="183794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(how to automate later)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33172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38658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interaction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82057" y="233172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91785" y="238658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spc="-50" dirty="0">
                <a:latin typeface="Segoe UI Symbol"/>
                <a:cs typeface="Segoe UI Symbol"/>
              </a:rPr>
              <a:t>✔</a:t>
            </a:r>
            <a:endParaRPr lang="en-US" sz="1200" dirty="0">
              <a:latin typeface="Segoe UI Symbol"/>
              <a:cs typeface="Segoe UI Symbol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5283" y="233172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25011" y="238658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48509" y="233172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58237" y="238658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288036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293522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82057" y="288036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91785" y="293522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spc="-50" dirty="0">
                <a:latin typeface="Segoe UI Symbol"/>
                <a:cs typeface="Segoe UI Symbol"/>
              </a:rPr>
              <a:t>✔</a:t>
            </a:r>
            <a:endParaRPr lang="en-US" sz="1200" dirty="0">
              <a:latin typeface="Segoe UI Symbol"/>
              <a:cs typeface="Segoe UI Symbol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5283" y="288036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325011" y="293522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48509" y="288036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58237" y="293522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42900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48386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/ model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82057" y="342900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891785" y="348386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spc="-50" dirty="0">
                <a:latin typeface="Segoe UI Symbol"/>
                <a:cs typeface="Segoe UI Symbol"/>
              </a:rPr>
              <a:t>✔</a:t>
            </a:r>
            <a:endParaRPr lang="en-US" sz="1200" dirty="0">
              <a:latin typeface="Segoe UI Symbol"/>
              <a:cs typeface="Segoe UI Symbol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5283" y="342900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325011" y="348386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48509" y="342900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758237" y="348386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" y="397764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69848" y="403250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(API/IOT)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82057" y="397764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891785" y="403250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spc="-50" dirty="0">
                <a:latin typeface="Segoe UI Symbol"/>
                <a:cs typeface="Segoe UI Symbol"/>
              </a:rPr>
              <a:t>✔</a:t>
            </a:r>
            <a:endParaRPr lang="en-US" sz="1200" dirty="0">
              <a:latin typeface="Segoe UI Symbol"/>
              <a:cs typeface="Segoe UI Symbol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5283" y="397764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25011" y="403250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48509" y="397764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758237" y="403250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526280"/>
            <a:ext cx="3821937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581144"/>
            <a:ext cx="3602481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/ reports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82057" y="452628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891785" y="45811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5283" y="4526280"/>
            <a:ext cx="143322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r>
              <a:rPr lang="en-US" sz="1400" spc="-50" dirty="0">
                <a:latin typeface="Segoe UI Symbol"/>
                <a:cs typeface="Segoe UI Symbol"/>
              </a:rPr>
              <a:t>✔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25011" y="4581144"/>
            <a:ext cx="121377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48509" y="4526280"/>
            <a:ext cx="358306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758237" y="4581144"/>
            <a:ext cx="336361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Simulation is allowed only if clearly marked. MVP still requires real end-users and real feedback.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Campus Connect will be tested with real students to collect feedback, measure usage metrics, and understand how effectively the platform helps students find study materials.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protocol (fill)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Users recruited (N):</a:t>
            </a:r>
            <a:r>
              <a:rPr lang="en-US" sz="1400" dirty="0"/>
              <a:t>7 college students</a:t>
            </a:r>
          </a:p>
          <a:p>
            <a:r>
              <a:rPr lang="en-US" sz="1400" b="1" dirty="0"/>
              <a:t>Tasks to perform (2–3 tasks):</a:t>
            </a: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Register / login to Campus Connect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Search for notes or past question papers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Download study materials</a:t>
            </a:r>
          </a:p>
          <a:p>
            <a:r>
              <a:rPr lang="en-US" sz="1400" b="1" dirty="0"/>
              <a:t>Time per session:</a:t>
            </a:r>
            <a:r>
              <a:rPr lang="en-US" sz="1400" dirty="0"/>
              <a:t>10 minutes per user</a:t>
            </a:r>
          </a:p>
          <a:p>
            <a:r>
              <a:rPr lang="en-US" sz="1400" b="1" dirty="0"/>
              <a:t>Where recorded (notes / form):</a:t>
            </a:r>
            <a:r>
              <a:rPr lang="en-US" sz="1400" dirty="0"/>
              <a:t>Google Form feedback and observation notes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572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questions (minimum)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983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What were you trying to do?</a:t>
            </a:r>
            <a:br>
              <a:rPr lang="en-US" dirty="0"/>
            </a:br>
            <a:r>
              <a:rPr lang="en-US" dirty="0"/>
              <a:t>• What worked well while using the platform?</a:t>
            </a:r>
            <a:br>
              <a:rPr lang="en-US" dirty="0"/>
            </a:br>
            <a:r>
              <a:rPr lang="en-US" dirty="0"/>
              <a:t>• What was confusing or difficult?</a:t>
            </a:r>
            <a:br>
              <a:rPr lang="en-US" dirty="0"/>
            </a:br>
            <a:r>
              <a:rPr lang="en-US" dirty="0"/>
              <a:t>• Would you use this platform again for study materials? Why?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quick measures (pick 1–2)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251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• </a:t>
            </a:r>
            <a:r>
              <a:rPr lang="en-US" b="1" dirty="0"/>
              <a:t>Task success rate (%)</a:t>
            </a:r>
            <a:r>
              <a:rPr lang="en-US" dirty="0"/>
              <a:t> – Percentage of users able to find and download notes successfully</a:t>
            </a:r>
          </a:p>
          <a:p>
            <a:r>
              <a:rPr lang="en-US" dirty="0"/>
              <a:t>• </a:t>
            </a:r>
            <a:r>
              <a:rPr lang="en-US" b="1" dirty="0"/>
              <a:t>Time on task (minutes)</a:t>
            </a:r>
            <a:r>
              <a:rPr lang="en-US" dirty="0"/>
              <a:t> – Time taken by students to locate and download study materials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Summary (After testing)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said (themes)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/>
              <a:t>Worked well:</a:t>
            </a:r>
            <a:br>
              <a:rPr lang="en-US" sz="1600" dirty="0"/>
            </a:br>
            <a:r>
              <a:rPr lang="en-US" sz="1600" dirty="0"/>
              <a:t>• Easy access to study materials in one place</a:t>
            </a:r>
            <a:br>
              <a:rPr lang="en-US" sz="1600" dirty="0"/>
            </a:br>
            <a:r>
              <a:rPr lang="en-US" sz="1600" dirty="0"/>
              <a:t>• Uploading and downloading notes was simple</a:t>
            </a:r>
          </a:p>
          <a:p>
            <a:r>
              <a:rPr lang="en-US" sz="1600" b="1" dirty="0"/>
              <a:t>Did not work:</a:t>
            </a:r>
            <a:br>
              <a:rPr lang="en-US" sz="1600" dirty="0"/>
            </a:br>
            <a:r>
              <a:rPr lang="en-US" sz="1600" dirty="0"/>
              <a:t>• Some users found navigation slightly confusing</a:t>
            </a:r>
          </a:p>
          <a:p>
            <a:r>
              <a:rPr lang="en-US" sz="1600" b="1" dirty="0"/>
              <a:t>Confusing:</a:t>
            </a:r>
            <a:br>
              <a:rPr lang="en-US" sz="1600" dirty="0"/>
            </a:br>
            <a:r>
              <a:rPr lang="en-US" sz="1600" dirty="0"/>
              <a:t>• Searching by subject or semester could be improved</a:t>
            </a:r>
          </a:p>
          <a:p>
            <a:r>
              <a:rPr lang="en-US" sz="1600" b="1" dirty="0"/>
              <a:t>Suggested improvements:</a:t>
            </a:r>
            <a:br>
              <a:rPr lang="en-US" sz="1600" dirty="0"/>
            </a:br>
            <a:r>
              <a:rPr lang="en-US" sz="1600" dirty="0"/>
              <a:t>• Add better search and filtering options</a:t>
            </a:r>
            <a:br>
              <a:rPr lang="en-US" sz="1600" dirty="0"/>
            </a:br>
            <a:r>
              <a:rPr lang="en-US" sz="1600" dirty="0"/>
              <a:t>• Improve UI design for easier navigation</a:t>
            </a:r>
            <a:br>
              <a:rPr lang="en-US" sz="1600" dirty="0"/>
            </a:br>
            <a:r>
              <a:rPr lang="en-US" sz="1600" dirty="0"/>
              <a:t>• Add notification when new notes are uploaded</a:t>
            </a:r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quotes (anonymized)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“Finding notes here is much faster than searching multiple drives.” — User 1</a:t>
            </a:r>
          </a:p>
          <a:p>
            <a:r>
              <a:rPr lang="en-US" sz="1600" dirty="0"/>
              <a:t>“Uploading materials was simple and useful for juniors.” — User 2</a:t>
            </a:r>
          </a:p>
          <a:p>
            <a:r>
              <a:rPr lang="en-US" sz="1600" dirty="0"/>
              <a:t>“The search feature can be improved for better navigation.” — User 3</a:t>
            </a:r>
          </a:p>
        </p:txBody>
      </p:sp>
      <p:sp>
        <p:nvSpPr>
          <p:cNvPr id="11" name="Shape 9"/>
          <p:cNvSpPr/>
          <p:nvPr/>
        </p:nvSpPr>
        <p:spPr>
          <a:xfrm>
            <a:off x="6629400" y="388620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signals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/>
              <a:t>Would use </a:t>
            </a:r>
            <a:r>
              <a:rPr lang="en-US" sz="1600" b="1" dirty="0" err="1"/>
              <a:t>again?</a:t>
            </a:r>
            <a:r>
              <a:rPr lang="en-US" sz="1600" dirty="0" err="1"/>
              <a:t>Yes</a:t>
            </a:r>
            <a:r>
              <a:rPr lang="en-US" sz="1600" dirty="0"/>
              <a:t> – 6 / 7 users</a:t>
            </a:r>
          </a:p>
          <a:p>
            <a:r>
              <a:rPr lang="en-US" sz="1600" b="1" dirty="0"/>
              <a:t>Would recommend?</a:t>
            </a:r>
            <a:r>
              <a:rPr lang="en-US" sz="1600" dirty="0"/>
              <a:t>8 / 10 average rating</a:t>
            </a:r>
          </a:p>
          <a:p>
            <a:r>
              <a:rPr lang="en-US" sz="1600" b="1" dirty="0"/>
              <a:t>Would </a:t>
            </a:r>
            <a:r>
              <a:rPr lang="en-US" sz="1600" b="1" dirty="0" err="1"/>
              <a:t>adopt?</a:t>
            </a:r>
            <a:r>
              <a:rPr lang="en-US" sz="1600" dirty="0" err="1"/>
              <a:t>Most</a:t>
            </a:r>
            <a:r>
              <a:rPr lang="en-US" sz="1600" dirty="0"/>
              <a:t> students said they would use the platform if more notes are available.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Metrics (Target vs Actual)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256786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7984" y="1783080"/>
            <a:ext cx="151737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37712" y="183794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5358" y="1783080"/>
            <a:ext cx="1517374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55086" y="183794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2732" y="1783080"/>
            <a:ext cx="1400653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2460" y="183794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3385" y="1783080"/>
            <a:ext cx="3268190" cy="59436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73113" y="183794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(slide/link/log)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237744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9848" y="243230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pain metric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7984" y="237744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37712" y="243230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5358" y="237744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155086" y="243230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62732" y="237744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72460" y="243230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 / ☐ Fail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63385" y="237744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073113" y="243230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" y="297180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9848" y="302666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27984" y="297180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637712" y="302666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45358" y="297180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155086" y="302666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62732" y="297180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72460" y="302666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 / ☐ Fail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63385" y="297180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073113" y="302666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0120" y="356616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9848" y="362102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adoption metric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27984" y="356616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37712" y="362102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45358" y="356616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155086" y="362102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62732" y="356616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672460" y="362102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 / ☐ Fail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63385" y="356616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073113" y="362102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" y="4160520"/>
            <a:ext cx="2567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69848" y="4215384"/>
            <a:ext cx="234840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metric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27984" y="416052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3637712" y="421538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45358" y="4160520"/>
            <a:ext cx="151737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155086" y="4215384"/>
            <a:ext cx="129791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62732" y="4160520"/>
            <a:ext cx="1400653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672460" y="4215384"/>
            <a:ext cx="1181197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 / ☐ Fail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63385" y="4160520"/>
            <a:ext cx="326819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073113" y="4215384"/>
            <a:ext cx="304873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</a:t>
            </a:r>
            <a:endParaRPr lang="en-US" sz="1000" dirty="0"/>
          </a:p>
        </p:txBody>
      </p:sp>
      <p:grpSp>
        <p:nvGrpSpPr>
          <p:cNvPr id="70" name="object 2">
            <a:extLst>
              <a:ext uri="{FF2B5EF4-FFF2-40B4-BE49-F238E27FC236}">
                <a16:creationId xmlns:a16="http://schemas.microsoft.com/office/drawing/2014/main" id="{E5747CBB-9938-E104-EBC3-AD9AECC2A6BA}"/>
              </a:ext>
            </a:extLst>
          </p:cNvPr>
          <p:cNvGrpSpPr/>
          <p:nvPr/>
        </p:nvGrpSpPr>
        <p:grpSpPr>
          <a:xfrm>
            <a:off x="-1271" y="1380489"/>
            <a:ext cx="12200255" cy="5224780"/>
            <a:chOff x="-1271" y="1380489"/>
            <a:chExt cx="12200255" cy="5224780"/>
          </a:xfrm>
        </p:grpSpPr>
        <p:pic>
          <p:nvPicPr>
            <p:cNvPr id="71" name="object 3">
              <a:extLst>
                <a:ext uri="{FF2B5EF4-FFF2-40B4-BE49-F238E27FC236}">
                  <a16:creationId xmlns:a16="http://schemas.microsoft.com/office/drawing/2014/main" id="{EFF38516-3882-B227-1846-61132ABCCEB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017" y="1380489"/>
              <a:ext cx="10930001" cy="5224526"/>
            </a:xfrm>
            <a:prstGeom prst="rect">
              <a:avLst/>
            </a:prstGeom>
          </p:spPr>
        </p:pic>
        <p:sp>
          <p:nvSpPr>
            <p:cNvPr id="72" name="object 4">
              <a:extLst>
                <a:ext uri="{FF2B5EF4-FFF2-40B4-BE49-F238E27FC236}">
                  <a16:creationId xmlns:a16="http://schemas.microsoft.com/office/drawing/2014/main" id="{49AA9C2A-C281-BF09-CDC0-20B68D7F907F}"/>
                </a:ext>
              </a:extLst>
            </p:cNvPr>
            <p:cNvSpPr/>
            <p:nvPr/>
          </p:nvSpPr>
          <p:spPr>
            <a:xfrm>
              <a:off x="690880" y="1423415"/>
              <a:ext cx="10820400" cy="5114925"/>
            </a:xfrm>
            <a:custGeom>
              <a:avLst/>
              <a:gdLst/>
              <a:ahLst/>
              <a:cxnLst/>
              <a:rect l="l" t="t" r="r" b="b"/>
              <a:pathLst>
                <a:path w="10820400" h="5114925">
                  <a:moveTo>
                    <a:pt x="9967849" y="0"/>
                  </a:moveTo>
                  <a:lnTo>
                    <a:pt x="852424" y="0"/>
                  </a:lnTo>
                  <a:lnTo>
                    <a:pt x="804164" y="1397"/>
                  </a:lnTo>
                  <a:lnTo>
                    <a:pt x="756411" y="5461"/>
                  </a:lnTo>
                  <a:lnTo>
                    <a:pt x="709549" y="11937"/>
                  </a:lnTo>
                  <a:lnTo>
                    <a:pt x="663575" y="21082"/>
                  </a:lnTo>
                  <a:lnTo>
                    <a:pt x="618363" y="32638"/>
                  </a:lnTo>
                  <a:lnTo>
                    <a:pt x="574294" y="46482"/>
                  </a:lnTo>
                  <a:lnTo>
                    <a:pt x="531253" y="62611"/>
                  </a:lnTo>
                  <a:lnTo>
                    <a:pt x="489343" y="81025"/>
                  </a:lnTo>
                  <a:lnTo>
                    <a:pt x="448652" y="101600"/>
                  </a:lnTo>
                  <a:lnTo>
                    <a:pt x="409232" y="124206"/>
                  </a:lnTo>
                  <a:lnTo>
                    <a:pt x="371182" y="148844"/>
                  </a:lnTo>
                  <a:lnTo>
                    <a:pt x="334543" y="175387"/>
                  </a:lnTo>
                  <a:lnTo>
                    <a:pt x="299415" y="203835"/>
                  </a:lnTo>
                  <a:lnTo>
                    <a:pt x="265861" y="233934"/>
                  </a:lnTo>
                  <a:lnTo>
                    <a:pt x="233946" y="265938"/>
                  </a:lnTo>
                  <a:lnTo>
                    <a:pt x="203746" y="299466"/>
                  </a:lnTo>
                  <a:lnTo>
                    <a:pt x="175336" y="334518"/>
                  </a:lnTo>
                  <a:lnTo>
                    <a:pt x="148780" y="371221"/>
                  </a:lnTo>
                  <a:lnTo>
                    <a:pt x="124155" y="409321"/>
                  </a:lnTo>
                  <a:lnTo>
                    <a:pt x="101536" y="448691"/>
                  </a:lnTo>
                  <a:lnTo>
                    <a:pt x="80987" y="489331"/>
                  </a:lnTo>
                  <a:lnTo>
                    <a:pt x="62598" y="531241"/>
                  </a:lnTo>
                  <a:lnTo>
                    <a:pt x="46418" y="574294"/>
                  </a:lnTo>
                  <a:lnTo>
                    <a:pt x="32537" y="618363"/>
                  </a:lnTo>
                  <a:lnTo>
                    <a:pt x="21018" y="663575"/>
                  </a:lnTo>
                  <a:lnTo>
                    <a:pt x="11925" y="709549"/>
                  </a:lnTo>
                  <a:lnTo>
                    <a:pt x="5346" y="756412"/>
                  </a:lnTo>
                  <a:lnTo>
                    <a:pt x="1346" y="804163"/>
                  </a:lnTo>
                  <a:lnTo>
                    <a:pt x="0" y="852424"/>
                  </a:lnTo>
                  <a:lnTo>
                    <a:pt x="0" y="4262412"/>
                  </a:lnTo>
                  <a:lnTo>
                    <a:pt x="1346" y="4310786"/>
                  </a:lnTo>
                  <a:lnTo>
                    <a:pt x="5346" y="4358449"/>
                  </a:lnTo>
                  <a:lnTo>
                    <a:pt x="11925" y="4405337"/>
                  </a:lnTo>
                  <a:lnTo>
                    <a:pt x="21018" y="4451375"/>
                  </a:lnTo>
                  <a:lnTo>
                    <a:pt x="32537" y="4496485"/>
                  </a:lnTo>
                  <a:lnTo>
                    <a:pt x="46418" y="4540605"/>
                  </a:lnTo>
                  <a:lnTo>
                    <a:pt x="62598" y="4583658"/>
                  </a:lnTo>
                  <a:lnTo>
                    <a:pt x="80987" y="4625568"/>
                  </a:lnTo>
                  <a:lnTo>
                    <a:pt x="101536" y="4666259"/>
                  </a:lnTo>
                  <a:lnTo>
                    <a:pt x="124155" y="4705680"/>
                  </a:lnTo>
                  <a:lnTo>
                    <a:pt x="148780" y="4743742"/>
                  </a:lnTo>
                  <a:lnTo>
                    <a:pt x="175336" y="4780368"/>
                  </a:lnTo>
                  <a:lnTo>
                    <a:pt x="203746" y="4815497"/>
                  </a:lnTo>
                  <a:lnTo>
                    <a:pt x="233946" y="4849063"/>
                  </a:lnTo>
                  <a:lnTo>
                    <a:pt x="265861" y="4880978"/>
                  </a:lnTo>
                  <a:lnTo>
                    <a:pt x="299415" y="4911178"/>
                  </a:lnTo>
                  <a:lnTo>
                    <a:pt x="334543" y="4939588"/>
                  </a:lnTo>
                  <a:lnTo>
                    <a:pt x="371182" y="4966144"/>
                  </a:lnTo>
                  <a:lnTo>
                    <a:pt x="409232" y="4990757"/>
                  </a:lnTo>
                  <a:lnTo>
                    <a:pt x="448652" y="5013375"/>
                  </a:lnTo>
                  <a:lnTo>
                    <a:pt x="489343" y="5033924"/>
                  </a:lnTo>
                  <a:lnTo>
                    <a:pt x="531253" y="5052326"/>
                  </a:lnTo>
                  <a:lnTo>
                    <a:pt x="574294" y="5068493"/>
                  </a:lnTo>
                  <a:lnTo>
                    <a:pt x="618363" y="5082387"/>
                  </a:lnTo>
                  <a:lnTo>
                    <a:pt x="663575" y="5093906"/>
                  </a:lnTo>
                  <a:lnTo>
                    <a:pt x="709549" y="5102987"/>
                  </a:lnTo>
                  <a:lnTo>
                    <a:pt x="756411" y="5109578"/>
                  </a:lnTo>
                  <a:lnTo>
                    <a:pt x="804164" y="5113578"/>
                  </a:lnTo>
                  <a:lnTo>
                    <a:pt x="852424" y="5114925"/>
                  </a:lnTo>
                  <a:lnTo>
                    <a:pt x="9967849" y="5114925"/>
                  </a:lnTo>
                  <a:lnTo>
                    <a:pt x="10016236" y="5113578"/>
                  </a:lnTo>
                  <a:lnTo>
                    <a:pt x="10063988" y="5109578"/>
                  </a:lnTo>
                  <a:lnTo>
                    <a:pt x="10110851" y="5102987"/>
                  </a:lnTo>
                  <a:lnTo>
                    <a:pt x="10156825" y="5093906"/>
                  </a:lnTo>
                  <a:lnTo>
                    <a:pt x="10202037" y="5082387"/>
                  </a:lnTo>
                  <a:lnTo>
                    <a:pt x="10246106" y="5068493"/>
                  </a:lnTo>
                  <a:lnTo>
                    <a:pt x="10289159" y="5052326"/>
                  </a:lnTo>
                  <a:lnTo>
                    <a:pt x="10331069" y="5033924"/>
                  </a:lnTo>
                  <a:lnTo>
                    <a:pt x="10371709" y="5013375"/>
                  </a:lnTo>
                  <a:lnTo>
                    <a:pt x="10411206" y="4990757"/>
                  </a:lnTo>
                  <a:lnTo>
                    <a:pt x="10449179" y="4966144"/>
                  </a:lnTo>
                  <a:lnTo>
                    <a:pt x="10485882" y="4939588"/>
                  </a:lnTo>
                  <a:lnTo>
                    <a:pt x="10521061" y="4911178"/>
                  </a:lnTo>
                  <a:lnTo>
                    <a:pt x="10554589" y="4880978"/>
                  </a:lnTo>
                  <a:lnTo>
                    <a:pt x="10586466" y="4849063"/>
                  </a:lnTo>
                  <a:lnTo>
                    <a:pt x="10616692" y="4815497"/>
                  </a:lnTo>
                  <a:lnTo>
                    <a:pt x="10645140" y="4780368"/>
                  </a:lnTo>
                  <a:lnTo>
                    <a:pt x="10671683" y="4743742"/>
                  </a:lnTo>
                  <a:lnTo>
                    <a:pt x="10696321" y="4705680"/>
                  </a:lnTo>
                  <a:lnTo>
                    <a:pt x="10718927" y="4666259"/>
                  </a:lnTo>
                  <a:lnTo>
                    <a:pt x="10739501" y="4625568"/>
                  </a:lnTo>
                  <a:lnTo>
                    <a:pt x="10757789" y="4583658"/>
                  </a:lnTo>
                  <a:lnTo>
                    <a:pt x="10774045" y="4540605"/>
                  </a:lnTo>
                  <a:lnTo>
                    <a:pt x="10787888" y="4496485"/>
                  </a:lnTo>
                  <a:lnTo>
                    <a:pt x="10799445" y="4451375"/>
                  </a:lnTo>
                  <a:lnTo>
                    <a:pt x="10808589" y="4405337"/>
                  </a:lnTo>
                  <a:lnTo>
                    <a:pt x="10815066" y="4358449"/>
                  </a:lnTo>
                  <a:lnTo>
                    <a:pt x="10819130" y="4310786"/>
                  </a:lnTo>
                  <a:lnTo>
                    <a:pt x="10820400" y="4262412"/>
                  </a:lnTo>
                  <a:lnTo>
                    <a:pt x="10820400" y="852424"/>
                  </a:lnTo>
                  <a:lnTo>
                    <a:pt x="10819130" y="804163"/>
                  </a:lnTo>
                  <a:lnTo>
                    <a:pt x="10815066" y="756412"/>
                  </a:lnTo>
                  <a:lnTo>
                    <a:pt x="10808589" y="709549"/>
                  </a:lnTo>
                  <a:lnTo>
                    <a:pt x="10799445" y="663575"/>
                  </a:lnTo>
                  <a:lnTo>
                    <a:pt x="10787888" y="618363"/>
                  </a:lnTo>
                  <a:lnTo>
                    <a:pt x="10774045" y="574294"/>
                  </a:lnTo>
                  <a:lnTo>
                    <a:pt x="10757789" y="531241"/>
                  </a:lnTo>
                  <a:lnTo>
                    <a:pt x="10739501" y="489331"/>
                  </a:lnTo>
                  <a:lnTo>
                    <a:pt x="10718927" y="448691"/>
                  </a:lnTo>
                  <a:lnTo>
                    <a:pt x="10696321" y="409321"/>
                  </a:lnTo>
                  <a:lnTo>
                    <a:pt x="10671683" y="371221"/>
                  </a:lnTo>
                  <a:lnTo>
                    <a:pt x="10645140" y="334518"/>
                  </a:lnTo>
                  <a:lnTo>
                    <a:pt x="10616692" y="299466"/>
                  </a:lnTo>
                  <a:lnTo>
                    <a:pt x="10586466" y="265938"/>
                  </a:lnTo>
                  <a:lnTo>
                    <a:pt x="10554589" y="233934"/>
                  </a:lnTo>
                  <a:lnTo>
                    <a:pt x="10521061" y="203835"/>
                  </a:lnTo>
                  <a:lnTo>
                    <a:pt x="10485882" y="175387"/>
                  </a:lnTo>
                  <a:lnTo>
                    <a:pt x="10449179" y="148844"/>
                  </a:lnTo>
                  <a:lnTo>
                    <a:pt x="10411206" y="124206"/>
                  </a:lnTo>
                  <a:lnTo>
                    <a:pt x="10371709" y="101600"/>
                  </a:lnTo>
                  <a:lnTo>
                    <a:pt x="10331069" y="81025"/>
                  </a:lnTo>
                  <a:lnTo>
                    <a:pt x="10289159" y="62611"/>
                  </a:lnTo>
                  <a:lnTo>
                    <a:pt x="10246106" y="46482"/>
                  </a:lnTo>
                  <a:lnTo>
                    <a:pt x="10202037" y="32638"/>
                  </a:lnTo>
                  <a:lnTo>
                    <a:pt x="10156825" y="21082"/>
                  </a:lnTo>
                  <a:lnTo>
                    <a:pt x="10110851" y="11937"/>
                  </a:lnTo>
                  <a:lnTo>
                    <a:pt x="10063988" y="5461"/>
                  </a:lnTo>
                  <a:lnTo>
                    <a:pt x="10016236" y="1397"/>
                  </a:lnTo>
                  <a:lnTo>
                    <a:pt x="9967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5">
              <a:extLst>
                <a:ext uri="{FF2B5EF4-FFF2-40B4-BE49-F238E27FC236}">
                  <a16:creationId xmlns:a16="http://schemas.microsoft.com/office/drawing/2014/main" id="{DB6707AD-1930-6830-B448-3321F3537100}"/>
                </a:ext>
              </a:extLst>
            </p:cNvPr>
            <p:cNvSpPr/>
            <p:nvPr/>
          </p:nvSpPr>
          <p:spPr>
            <a:xfrm>
              <a:off x="690880" y="1423415"/>
              <a:ext cx="10820400" cy="5114925"/>
            </a:xfrm>
            <a:custGeom>
              <a:avLst/>
              <a:gdLst/>
              <a:ahLst/>
              <a:cxnLst/>
              <a:rect l="l" t="t" r="r" b="b"/>
              <a:pathLst>
                <a:path w="10820400" h="5114925">
                  <a:moveTo>
                    <a:pt x="0" y="852424"/>
                  </a:moveTo>
                  <a:lnTo>
                    <a:pt x="1346" y="804163"/>
                  </a:lnTo>
                  <a:lnTo>
                    <a:pt x="5346" y="756412"/>
                  </a:lnTo>
                  <a:lnTo>
                    <a:pt x="11925" y="709549"/>
                  </a:lnTo>
                  <a:lnTo>
                    <a:pt x="21018" y="663575"/>
                  </a:lnTo>
                  <a:lnTo>
                    <a:pt x="32537" y="618363"/>
                  </a:lnTo>
                  <a:lnTo>
                    <a:pt x="46418" y="574294"/>
                  </a:lnTo>
                  <a:lnTo>
                    <a:pt x="62598" y="531241"/>
                  </a:lnTo>
                  <a:lnTo>
                    <a:pt x="80987" y="489331"/>
                  </a:lnTo>
                  <a:lnTo>
                    <a:pt x="101536" y="448691"/>
                  </a:lnTo>
                  <a:lnTo>
                    <a:pt x="124155" y="409321"/>
                  </a:lnTo>
                  <a:lnTo>
                    <a:pt x="148780" y="371221"/>
                  </a:lnTo>
                  <a:lnTo>
                    <a:pt x="175336" y="334518"/>
                  </a:lnTo>
                  <a:lnTo>
                    <a:pt x="203746" y="299466"/>
                  </a:lnTo>
                  <a:lnTo>
                    <a:pt x="233946" y="265938"/>
                  </a:lnTo>
                  <a:lnTo>
                    <a:pt x="265861" y="233934"/>
                  </a:lnTo>
                  <a:lnTo>
                    <a:pt x="299415" y="203835"/>
                  </a:lnTo>
                  <a:lnTo>
                    <a:pt x="334543" y="175387"/>
                  </a:lnTo>
                  <a:lnTo>
                    <a:pt x="371182" y="148844"/>
                  </a:lnTo>
                  <a:lnTo>
                    <a:pt x="409232" y="124206"/>
                  </a:lnTo>
                  <a:lnTo>
                    <a:pt x="448652" y="101600"/>
                  </a:lnTo>
                  <a:lnTo>
                    <a:pt x="489343" y="81025"/>
                  </a:lnTo>
                  <a:lnTo>
                    <a:pt x="531253" y="62611"/>
                  </a:lnTo>
                  <a:lnTo>
                    <a:pt x="574294" y="46482"/>
                  </a:lnTo>
                  <a:lnTo>
                    <a:pt x="618363" y="32638"/>
                  </a:lnTo>
                  <a:lnTo>
                    <a:pt x="663575" y="21082"/>
                  </a:lnTo>
                  <a:lnTo>
                    <a:pt x="709549" y="11937"/>
                  </a:lnTo>
                  <a:lnTo>
                    <a:pt x="756411" y="5461"/>
                  </a:lnTo>
                  <a:lnTo>
                    <a:pt x="804164" y="1397"/>
                  </a:lnTo>
                  <a:lnTo>
                    <a:pt x="852424" y="0"/>
                  </a:lnTo>
                  <a:lnTo>
                    <a:pt x="9967849" y="0"/>
                  </a:lnTo>
                  <a:lnTo>
                    <a:pt x="10016236" y="1397"/>
                  </a:lnTo>
                  <a:lnTo>
                    <a:pt x="10063988" y="5461"/>
                  </a:lnTo>
                  <a:lnTo>
                    <a:pt x="10110851" y="11937"/>
                  </a:lnTo>
                  <a:lnTo>
                    <a:pt x="10156825" y="21082"/>
                  </a:lnTo>
                  <a:lnTo>
                    <a:pt x="10202037" y="32638"/>
                  </a:lnTo>
                  <a:lnTo>
                    <a:pt x="10246106" y="46482"/>
                  </a:lnTo>
                  <a:lnTo>
                    <a:pt x="10289159" y="62611"/>
                  </a:lnTo>
                  <a:lnTo>
                    <a:pt x="10331069" y="81025"/>
                  </a:lnTo>
                  <a:lnTo>
                    <a:pt x="10371709" y="101600"/>
                  </a:lnTo>
                  <a:lnTo>
                    <a:pt x="10411206" y="124206"/>
                  </a:lnTo>
                  <a:lnTo>
                    <a:pt x="10449179" y="148844"/>
                  </a:lnTo>
                  <a:lnTo>
                    <a:pt x="10485882" y="175387"/>
                  </a:lnTo>
                  <a:lnTo>
                    <a:pt x="10521061" y="203835"/>
                  </a:lnTo>
                  <a:lnTo>
                    <a:pt x="10554589" y="233934"/>
                  </a:lnTo>
                  <a:lnTo>
                    <a:pt x="10586466" y="265938"/>
                  </a:lnTo>
                  <a:lnTo>
                    <a:pt x="10616692" y="299466"/>
                  </a:lnTo>
                  <a:lnTo>
                    <a:pt x="10645140" y="334518"/>
                  </a:lnTo>
                  <a:lnTo>
                    <a:pt x="10671683" y="371221"/>
                  </a:lnTo>
                  <a:lnTo>
                    <a:pt x="10696321" y="409321"/>
                  </a:lnTo>
                  <a:lnTo>
                    <a:pt x="10718927" y="448691"/>
                  </a:lnTo>
                  <a:lnTo>
                    <a:pt x="10739501" y="489331"/>
                  </a:lnTo>
                  <a:lnTo>
                    <a:pt x="10757789" y="531241"/>
                  </a:lnTo>
                  <a:lnTo>
                    <a:pt x="10774045" y="574294"/>
                  </a:lnTo>
                  <a:lnTo>
                    <a:pt x="10787888" y="618363"/>
                  </a:lnTo>
                  <a:lnTo>
                    <a:pt x="10799445" y="663575"/>
                  </a:lnTo>
                  <a:lnTo>
                    <a:pt x="10808589" y="709549"/>
                  </a:lnTo>
                  <a:lnTo>
                    <a:pt x="10815066" y="756412"/>
                  </a:lnTo>
                  <a:lnTo>
                    <a:pt x="10819130" y="804163"/>
                  </a:lnTo>
                  <a:lnTo>
                    <a:pt x="10820400" y="852424"/>
                  </a:lnTo>
                  <a:lnTo>
                    <a:pt x="10820400" y="4262412"/>
                  </a:lnTo>
                  <a:lnTo>
                    <a:pt x="10819130" y="4310786"/>
                  </a:lnTo>
                  <a:lnTo>
                    <a:pt x="10815066" y="4358449"/>
                  </a:lnTo>
                  <a:lnTo>
                    <a:pt x="10808589" y="4405337"/>
                  </a:lnTo>
                  <a:lnTo>
                    <a:pt x="10799445" y="4451375"/>
                  </a:lnTo>
                  <a:lnTo>
                    <a:pt x="10787888" y="4496485"/>
                  </a:lnTo>
                  <a:lnTo>
                    <a:pt x="10774045" y="4540605"/>
                  </a:lnTo>
                  <a:lnTo>
                    <a:pt x="10757789" y="4583658"/>
                  </a:lnTo>
                  <a:lnTo>
                    <a:pt x="10739501" y="4625568"/>
                  </a:lnTo>
                  <a:lnTo>
                    <a:pt x="10718927" y="4666259"/>
                  </a:lnTo>
                  <a:lnTo>
                    <a:pt x="10696321" y="4705680"/>
                  </a:lnTo>
                  <a:lnTo>
                    <a:pt x="10671683" y="4743742"/>
                  </a:lnTo>
                  <a:lnTo>
                    <a:pt x="10645140" y="4780368"/>
                  </a:lnTo>
                  <a:lnTo>
                    <a:pt x="10616692" y="4815497"/>
                  </a:lnTo>
                  <a:lnTo>
                    <a:pt x="10586466" y="4849063"/>
                  </a:lnTo>
                  <a:lnTo>
                    <a:pt x="10554589" y="4880978"/>
                  </a:lnTo>
                  <a:lnTo>
                    <a:pt x="10521061" y="4911178"/>
                  </a:lnTo>
                  <a:lnTo>
                    <a:pt x="10485882" y="4939588"/>
                  </a:lnTo>
                  <a:lnTo>
                    <a:pt x="10449179" y="4966144"/>
                  </a:lnTo>
                  <a:lnTo>
                    <a:pt x="10411206" y="4990757"/>
                  </a:lnTo>
                  <a:lnTo>
                    <a:pt x="10371709" y="5013375"/>
                  </a:lnTo>
                  <a:lnTo>
                    <a:pt x="10331069" y="5033924"/>
                  </a:lnTo>
                  <a:lnTo>
                    <a:pt x="10289159" y="5052326"/>
                  </a:lnTo>
                  <a:lnTo>
                    <a:pt x="10246106" y="5068493"/>
                  </a:lnTo>
                  <a:lnTo>
                    <a:pt x="10202037" y="5082387"/>
                  </a:lnTo>
                  <a:lnTo>
                    <a:pt x="10156825" y="5093906"/>
                  </a:lnTo>
                  <a:lnTo>
                    <a:pt x="10110851" y="5102987"/>
                  </a:lnTo>
                  <a:lnTo>
                    <a:pt x="10063988" y="5109578"/>
                  </a:lnTo>
                  <a:lnTo>
                    <a:pt x="10016236" y="5113578"/>
                  </a:lnTo>
                  <a:lnTo>
                    <a:pt x="9967849" y="5114925"/>
                  </a:lnTo>
                  <a:lnTo>
                    <a:pt x="852424" y="5114925"/>
                  </a:lnTo>
                  <a:lnTo>
                    <a:pt x="804164" y="5113578"/>
                  </a:lnTo>
                  <a:lnTo>
                    <a:pt x="756411" y="5109578"/>
                  </a:lnTo>
                  <a:lnTo>
                    <a:pt x="709549" y="5102987"/>
                  </a:lnTo>
                  <a:lnTo>
                    <a:pt x="663575" y="5093906"/>
                  </a:lnTo>
                  <a:lnTo>
                    <a:pt x="618363" y="5082387"/>
                  </a:lnTo>
                  <a:lnTo>
                    <a:pt x="574294" y="5068493"/>
                  </a:lnTo>
                  <a:lnTo>
                    <a:pt x="531253" y="5052326"/>
                  </a:lnTo>
                  <a:lnTo>
                    <a:pt x="489343" y="5033924"/>
                  </a:lnTo>
                  <a:lnTo>
                    <a:pt x="448652" y="5013375"/>
                  </a:lnTo>
                  <a:lnTo>
                    <a:pt x="409232" y="4990757"/>
                  </a:lnTo>
                  <a:lnTo>
                    <a:pt x="371182" y="4966144"/>
                  </a:lnTo>
                  <a:lnTo>
                    <a:pt x="334543" y="4939588"/>
                  </a:lnTo>
                  <a:lnTo>
                    <a:pt x="299415" y="4911178"/>
                  </a:lnTo>
                  <a:lnTo>
                    <a:pt x="265861" y="4880978"/>
                  </a:lnTo>
                  <a:lnTo>
                    <a:pt x="233946" y="4849063"/>
                  </a:lnTo>
                  <a:lnTo>
                    <a:pt x="203746" y="4815497"/>
                  </a:lnTo>
                  <a:lnTo>
                    <a:pt x="175336" y="4780368"/>
                  </a:lnTo>
                  <a:lnTo>
                    <a:pt x="148780" y="4743742"/>
                  </a:lnTo>
                  <a:lnTo>
                    <a:pt x="124155" y="4705680"/>
                  </a:lnTo>
                  <a:lnTo>
                    <a:pt x="101536" y="4666259"/>
                  </a:lnTo>
                  <a:lnTo>
                    <a:pt x="80987" y="4625568"/>
                  </a:lnTo>
                  <a:lnTo>
                    <a:pt x="62598" y="4583658"/>
                  </a:lnTo>
                  <a:lnTo>
                    <a:pt x="46418" y="4540605"/>
                  </a:lnTo>
                  <a:lnTo>
                    <a:pt x="32537" y="4496485"/>
                  </a:lnTo>
                  <a:lnTo>
                    <a:pt x="21018" y="4451375"/>
                  </a:lnTo>
                  <a:lnTo>
                    <a:pt x="11925" y="4405337"/>
                  </a:lnTo>
                  <a:lnTo>
                    <a:pt x="5346" y="4358449"/>
                  </a:lnTo>
                  <a:lnTo>
                    <a:pt x="1346" y="4310786"/>
                  </a:lnTo>
                  <a:lnTo>
                    <a:pt x="0" y="4262412"/>
                  </a:lnTo>
                  <a:lnTo>
                    <a:pt x="0" y="852424"/>
                  </a:lnTo>
                  <a:close/>
                </a:path>
              </a:pathLst>
            </a:custGeom>
            <a:ln w="12700">
              <a:solidFill>
                <a:srgbClr val="D5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6">
              <a:extLst>
                <a:ext uri="{FF2B5EF4-FFF2-40B4-BE49-F238E27FC236}">
                  <a16:creationId xmlns:a16="http://schemas.microsoft.com/office/drawing/2014/main" id="{35572336-6281-245A-A713-64965742A5CD}"/>
                </a:ext>
              </a:extLst>
            </p:cNvPr>
            <p:cNvSpPr/>
            <p:nvPr/>
          </p:nvSpPr>
          <p:spPr>
            <a:xfrm>
              <a:off x="5078" y="6547866"/>
              <a:ext cx="12187555" cy="9525"/>
            </a:xfrm>
            <a:custGeom>
              <a:avLst/>
              <a:gdLst/>
              <a:ahLst/>
              <a:cxnLst/>
              <a:rect l="l" t="t" r="r" b="b"/>
              <a:pathLst>
                <a:path w="12187555" h="9525">
                  <a:moveTo>
                    <a:pt x="12187174" y="0"/>
                  </a:moveTo>
                  <a:lnTo>
                    <a:pt x="0" y="0"/>
                  </a:lnTo>
                  <a:lnTo>
                    <a:pt x="0" y="9524"/>
                  </a:lnTo>
                  <a:lnTo>
                    <a:pt x="12187174" y="9524"/>
                  </a:lnTo>
                  <a:lnTo>
                    <a:pt x="12187174" y="0"/>
                  </a:lnTo>
                  <a:close/>
                </a:path>
              </a:pathLst>
            </a:custGeom>
            <a:solidFill>
              <a:srgbClr val="D5D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">
              <a:extLst>
                <a:ext uri="{FF2B5EF4-FFF2-40B4-BE49-F238E27FC236}">
                  <a16:creationId xmlns:a16="http://schemas.microsoft.com/office/drawing/2014/main" id="{7E4DF85D-3011-72EC-2C5F-3163E0BD790B}"/>
                </a:ext>
              </a:extLst>
            </p:cNvPr>
            <p:cNvSpPr/>
            <p:nvPr/>
          </p:nvSpPr>
          <p:spPr>
            <a:xfrm>
              <a:off x="5078" y="6547866"/>
              <a:ext cx="12187555" cy="9525"/>
            </a:xfrm>
            <a:custGeom>
              <a:avLst/>
              <a:gdLst/>
              <a:ahLst/>
              <a:cxnLst/>
              <a:rect l="l" t="t" r="r" b="b"/>
              <a:pathLst>
                <a:path w="12187555" h="9525">
                  <a:moveTo>
                    <a:pt x="12187175" y="0"/>
                  </a:moveTo>
                  <a:lnTo>
                    <a:pt x="0" y="0"/>
                  </a:lnTo>
                  <a:lnTo>
                    <a:pt x="0" y="9524"/>
                  </a:lnTo>
                  <a:lnTo>
                    <a:pt x="12187175" y="9524"/>
                  </a:lnTo>
                </a:path>
              </a:pathLst>
            </a:custGeom>
            <a:ln w="12700">
              <a:solidFill>
                <a:srgbClr val="D5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8">
            <a:extLst>
              <a:ext uri="{FF2B5EF4-FFF2-40B4-BE49-F238E27FC236}">
                <a16:creationId xmlns:a16="http://schemas.microsoft.com/office/drawing/2014/main" id="{B9A49E81-F8D3-6E05-1B75-D0C9FAF40E08}"/>
              </a:ext>
            </a:extLst>
          </p:cNvPr>
          <p:cNvSpPr txBox="1"/>
          <p:nvPr/>
        </p:nvSpPr>
        <p:spPr>
          <a:xfrm>
            <a:off x="10424921" y="156464"/>
            <a:ext cx="1428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10">
            <a:extLst>
              <a:ext uri="{FF2B5EF4-FFF2-40B4-BE49-F238E27FC236}">
                <a16:creationId xmlns:a16="http://schemas.microsoft.com/office/drawing/2014/main" id="{172F701D-1A61-99F1-97B3-9174B2E62529}"/>
              </a:ext>
            </a:extLst>
          </p:cNvPr>
          <p:cNvSpPr/>
          <p:nvPr/>
        </p:nvSpPr>
        <p:spPr>
          <a:xfrm>
            <a:off x="972312" y="1792553"/>
            <a:ext cx="6990080" cy="587375"/>
          </a:xfrm>
          <a:custGeom>
            <a:avLst/>
            <a:gdLst/>
            <a:ahLst/>
            <a:cxnLst/>
            <a:rect l="l" t="t" r="r" b="b"/>
            <a:pathLst>
              <a:path w="6990080" h="587375">
                <a:moveTo>
                  <a:pt x="2549906" y="0"/>
                </a:moveTo>
                <a:lnTo>
                  <a:pt x="0" y="0"/>
                </a:lnTo>
                <a:lnTo>
                  <a:pt x="0" y="587044"/>
                </a:lnTo>
                <a:lnTo>
                  <a:pt x="2549906" y="587044"/>
                </a:lnTo>
                <a:lnTo>
                  <a:pt x="2549906" y="0"/>
                </a:lnTo>
                <a:close/>
              </a:path>
              <a:path w="6990080" h="587375">
                <a:moveTo>
                  <a:pt x="4074160" y="0"/>
                </a:moveTo>
                <a:lnTo>
                  <a:pt x="2563622" y="0"/>
                </a:lnTo>
                <a:lnTo>
                  <a:pt x="2563622" y="587044"/>
                </a:lnTo>
                <a:lnTo>
                  <a:pt x="4074160" y="587044"/>
                </a:lnTo>
                <a:lnTo>
                  <a:pt x="4074160" y="0"/>
                </a:lnTo>
                <a:close/>
              </a:path>
              <a:path w="6990080" h="587375">
                <a:moveTo>
                  <a:pt x="5589143" y="0"/>
                </a:moveTo>
                <a:lnTo>
                  <a:pt x="4088003" y="0"/>
                </a:lnTo>
                <a:lnTo>
                  <a:pt x="4088003" y="587044"/>
                </a:lnTo>
                <a:lnTo>
                  <a:pt x="5589143" y="587044"/>
                </a:lnTo>
                <a:lnTo>
                  <a:pt x="5589143" y="0"/>
                </a:lnTo>
                <a:close/>
              </a:path>
              <a:path w="6990080" h="587375">
                <a:moveTo>
                  <a:pt x="6989953" y="0"/>
                </a:moveTo>
                <a:lnTo>
                  <a:pt x="5601335" y="0"/>
                </a:lnTo>
                <a:lnTo>
                  <a:pt x="5601335" y="587044"/>
                </a:lnTo>
                <a:lnTo>
                  <a:pt x="6989953" y="587044"/>
                </a:lnTo>
                <a:lnTo>
                  <a:pt x="6989953" y="0"/>
                </a:lnTo>
                <a:close/>
              </a:path>
            </a:pathLst>
          </a:custGeom>
          <a:solidFill>
            <a:srgbClr val="ECF0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9" name="object 11">
            <a:extLst>
              <a:ext uri="{FF2B5EF4-FFF2-40B4-BE49-F238E27FC236}">
                <a16:creationId xmlns:a16="http://schemas.microsoft.com/office/drawing/2014/main" id="{88D8420C-BC84-C6F4-C367-7E9C0D5FE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446359"/>
              </p:ext>
            </p:extLst>
          </p:nvPr>
        </p:nvGraphicFramePr>
        <p:xfrm>
          <a:off x="947927" y="1780285"/>
          <a:ext cx="7015479" cy="2970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5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3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066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809625" algn="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381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lang="en-US" sz="1200" dirty="0"/>
                        <a:t>Time to find study material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&lt;1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min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3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sec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0095" algn="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2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r>
                        <a:rPr sz="1200" spc="-15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conflicts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ts val="1530"/>
                        </a:lnSpc>
                        <a:tabLst>
                          <a:tab pos="357505" algn="l"/>
                        </a:tabLst>
                      </a:pP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conflicts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0095" algn="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2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satisfaction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530"/>
                        </a:lnSpc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&gt;70%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530"/>
                        </a:lnSpc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85%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0095" algn="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200" spc="-2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18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00" spc="-3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reliability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crashes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530"/>
                        </a:lnSpc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stable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0095" algn="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 spc="-2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object 12">
            <a:extLst>
              <a:ext uri="{FF2B5EF4-FFF2-40B4-BE49-F238E27FC236}">
                <a16:creationId xmlns:a16="http://schemas.microsoft.com/office/drawing/2014/main" id="{52C4FF00-D04C-0115-3F59-413D99F13CB4}"/>
              </a:ext>
            </a:extLst>
          </p:cNvPr>
          <p:cNvSpPr txBox="1">
            <a:spLocks/>
          </p:cNvSpPr>
          <p:nvPr/>
        </p:nvSpPr>
        <p:spPr>
          <a:xfrm>
            <a:off x="526795" y="6692518"/>
            <a:ext cx="1592199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">
              <a:lnSpc>
                <a:spcPts val="1000"/>
              </a:lnSpc>
            </a:pPr>
            <a:r>
              <a:rPr lang="en-US"/>
              <a:t>MVP</a:t>
            </a:r>
            <a:r>
              <a:rPr lang="en-US" spc="75"/>
              <a:t> </a:t>
            </a:r>
            <a:r>
              <a:rPr lang="en-US"/>
              <a:t>Stage</a:t>
            </a:r>
            <a:r>
              <a:rPr lang="en-US" spc="65"/>
              <a:t> </a:t>
            </a:r>
            <a:r>
              <a:rPr lang="en-US"/>
              <a:t>—</a:t>
            </a:r>
            <a:r>
              <a:rPr lang="en-US" spc="80"/>
              <a:t> </a:t>
            </a:r>
            <a:r>
              <a:rPr lang="en-US"/>
              <a:t>Submission</a:t>
            </a:r>
            <a:r>
              <a:rPr lang="en-US" spc="70"/>
              <a:t> </a:t>
            </a:r>
            <a:r>
              <a:rPr lang="en-US" spc="-20"/>
              <a:t>Deck</a:t>
            </a:r>
            <a:endParaRPr lang="en-US" spc="-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&amp; Evidence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Campus Connect was improved based on user feedback and testing results.</a:t>
            </a:r>
            <a:br>
              <a:rPr lang="en-US" dirty="0"/>
            </a:br>
            <a:r>
              <a:rPr lang="en-US" dirty="0"/>
              <a:t>This section shows the changes made to the platform and the evidence collected from real users.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Log (Mandatory)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1339755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99875" y="1783080"/>
            <a:ext cx="2902803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09603" y="183794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02678" y="1783080"/>
            <a:ext cx="3349388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12406" y="183794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(feedback)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52065" y="1783080"/>
            <a:ext cx="2679510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61793" y="183794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(metric/quote)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42316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69848" y="247802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99875" y="242316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409603" y="247802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02678" y="242316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12406" y="247802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52065" y="242316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61793" y="247802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06324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9848" y="311810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99875" y="306324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409603" y="311810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02678" y="306324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312406" y="311810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52065" y="306324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61793" y="311810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703320"/>
            <a:ext cx="1339755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69848" y="3758184"/>
            <a:ext cx="112029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99875" y="3703320"/>
            <a:ext cx="2902803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409603" y="3758184"/>
            <a:ext cx="2683347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02678" y="3703320"/>
            <a:ext cx="33493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312406" y="3758184"/>
            <a:ext cx="31299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52065" y="3703320"/>
            <a:ext cx="2679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61793" y="3758184"/>
            <a:ext cx="246005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17/23</a:t>
            </a:r>
            <a:endParaRPr lang="en-US" sz="1000" dirty="0"/>
          </a:p>
        </p:txBody>
      </p:sp>
      <p:grpSp>
        <p:nvGrpSpPr>
          <p:cNvPr id="41" name="object 2">
            <a:extLst>
              <a:ext uri="{FF2B5EF4-FFF2-40B4-BE49-F238E27FC236}">
                <a16:creationId xmlns:a16="http://schemas.microsoft.com/office/drawing/2014/main" id="{73D84727-1AA5-3778-BED1-5021BC8A38B9}"/>
              </a:ext>
            </a:extLst>
          </p:cNvPr>
          <p:cNvGrpSpPr/>
          <p:nvPr/>
        </p:nvGrpSpPr>
        <p:grpSpPr>
          <a:xfrm>
            <a:off x="-1271" y="1380489"/>
            <a:ext cx="12200255" cy="5224780"/>
            <a:chOff x="-1271" y="1380489"/>
            <a:chExt cx="12200255" cy="5224780"/>
          </a:xfrm>
        </p:grpSpPr>
        <p:pic>
          <p:nvPicPr>
            <p:cNvPr id="42" name="object 3">
              <a:extLst>
                <a:ext uri="{FF2B5EF4-FFF2-40B4-BE49-F238E27FC236}">
                  <a16:creationId xmlns:a16="http://schemas.microsoft.com/office/drawing/2014/main" id="{C971CB98-5358-9ED6-9B36-2785C1D62A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017" y="1380489"/>
              <a:ext cx="10930001" cy="5224526"/>
            </a:xfrm>
            <a:prstGeom prst="rect">
              <a:avLst/>
            </a:prstGeom>
          </p:spPr>
        </p:pic>
        <p:sp>
          <p:nvSpPr>
            <p:cNvPr id="43" name="object 4">
              <a:extLst>
                <a:ext uri="{FF2B5EF4-FFF2-40B4-BE49-F238E27FC236}">
                  <a16:creationId xmlns:a16="http://schemas.microsoft.com/office/drawing/2014/main" id="{57E0261E-BF9A-126F-5CBB-D9D3D41F6BEE}"/>
                </a:ext>
              </a:extLst>
            </p:cNvPr>
            <p:cNvSpPr/>
            <p:nvPr/>
          </p:nvSpPr>
          <p:spPr>
            <a:xfrm>
              <a:off x="690880" y="1423415"/>
              <a:ext cx="10820400" cy="5114925"/>
            </a:xfrm>
            <a:custGeom>
              <a:avLst/>
              <a:gdLst/>
              <a:ahLst/>
              <a:cxnLst/>
              <a:rect l="l" t="t" r="r" b="b"/>
              <a:pathLst>
                <a:path w="10820400" h="5114925">
                  <a:moveTo>
                    <a:pt x="9967849" y="0"/>
                  </a:moveTo>
                  <a:lnTo>
                    <a:pt x="852424" y="0"/>
                  </a:lnTo>
                  <a:lnTo>
                    <a:pt x="804164" y="1397"/>
                  </a:lnTo>
                  <a:lnTo>
                    <a:pt x="756411" y="5461"/>
                  </a:lnTo>
                  <a:lnTo>
                    <a:pt x="709549" y="11937"/>
                  </a:lnTo>
                  <a:lnTo>
                    <a:pt x="663575" y="21082"/>
                  </a:lnTo>
                  <a:lnTo>
                    <a:pt x="618363" y="32638"/>
                  </a:lnTo>
                  <a:lnTo>
                    <a:pt x="574294" y="46482"/>
                  </a:lnTo>
                  <a:lnTo>
                    <a:pt x="531253" y="62611"/>
                  </a:lnTo>
                  <a:lnTo>
                    <a:pt x="489343" y="81025"/>
                  </a:lnTo>
                  <a:lnTo>
                    <a:pt x="448652" y="101600"/>
                  </a:lnTo>
                  <a:lnTo>
                    <a:pt x="409232" y="124206"/>
                  </a:lnTo>
                  <a:lnTo>
                    <a:pt x="371182" y="148844"/>
                  </a:lnTo>
                  <a:lnTo>
                    <a:pt x="334543" y="175387"/>
                  </a:lnTo>
                  <a:lnTo>
                    <a:pt x="299415" y="203835"/>
                  </a:lnTo>
                  <a:lnTo>
                    <a:pt x="265861" y="233934"/>
                  </a:lnTo>
                  <a:lnTo>
                    <a:pt x="233946" y="265938"/>
                  </a:lnTo>
                  <a:lnTo>
                    <a:pt x="203746" y="299466"/>
                  </a:lnTo>
                  <a:lnTo>
                    <a:pt x="175336" y="334518"/>
                  </a:lnTo>
                  <a:lnTo>
                    <a:pt x="148780" y="371221"/>
                  </a:lnTo>
                  <a:lnTo>
                    <a:pt x="124155" y="409321"/>
                  </a:lnTo>
                  <a:lnTo>
                    <a:pt x="101536" y="448691"/>
                  </a:lnTo>
                  <a:lnTo>
                    <a:pt x="80987" y="489331"/>
                  </a:lnTo>
                  <a:lnTo>
                    <a:pt x="62598" y="531241"/>
                  </a:lnTo>
                  <a:lnTo>
                    <a:pt x="46418" y="574294"/>
                  </a:lnTo>
                  <a:lnTo>
                    <a:pt x="32537" y="618363"/>
                  </a:lnTo>
                  <a:lnTo>
                    <a:pt x="21018" y="663575"/>
                  </a:lnTo>
                  <a:lnTo>
                    <a:pt x="11925" y="709549"/>
                  </a:lnTo>
                  <a:lnTo>
                    <a:pt x="5346" y="756412"/>
                  </a:lnTo>
                  <a:lnTo>
                    <a:pt x="1346" y="804163"/>
                  </a:lnTo>
                  <a:lnTo>
                    <a:pt x="0" y="852424"/>
                  </a:lnTo>
                  <a:lnTo>
                    <a:pt x="0" y="4262412"/>
                  </a:lnTo>
                  <a:lnTo>
                    <a:pt x="1346" y="4310786"/>
                  </a:lnTo>
                  <a:lnTo>
                    <a:pt x="5346" y="4358449"/>
                  </a:lnTo>
                  <a:lnTo>
                    <a:pt x="11925" y="4405337"/>
                  </a:lnTo>
                  <a:lnTo>
                    <a:pt x="21018" y="4451375"/>
                  </a:lnTo>
                  <a:lnTo>
                    <a:pt x="32537" y="4496485"/>
                  </a:lnTo>
                  <a:lnTo>
                    <a:pt x="46418" y="4540605"/>
                  </a:lnTo>
                  <a:lnTo>
                    <a:pt x="62598" y="4583658"/>
                  </a:lnTo>
                  <a:lnTo>
                    <a:pt x="80987" y="4625568"/>
                  </a:lnTo>
                  <a:lnTo>
                    <a:pt x="101536" y="4666259"/>
                  </a:lnTo>
                  <a:lnTo>
                    <a:pt x="124155" y="4705680"/>
                  </a:lnTo>
                  <a:lnTo>
                    <a:pt x="148780" y="4743742"/>
                  </a:lnTo>
                  <a:lnTo>
                    <a:pt x="175336" y="4780368"/>
                  </a:lnTo>
                  <a:lnTo>
                    <a:pt x="203746" y="4815497"/>
                  </a:lnTo>
                  <a:lnTo>
                    <a:pt x="233946" y="4849063"/>
                  </a:lnTo>
                  <a:lnTo>
                    <a:pt x="265861" y="4880978"/>
                  </a:lnTo>
                  <a:lnTo>
                    <a:pt x="299415" y="4911178"/>
                  </a:lnTo>
                  <a:lnTo>
                    <a:pt x="334543" y="4939588"/>
                  </a:lnTo>
                  <a:lnTo>
                    <a:pt x="371182" y="4966144"/>
                  </a:lnTo>
                  <a:lnTo>
                    <a:pt x="409232" y="4990757"/>
                  </a:lnTo>
                  <a:lnTo>
                    <a:pt x="448652" y="5013375"/>
                  </a:lnTo>
                  <a:lnTo>
                    <a:pt x="489343" y="5033924"/>
                  </a:lnTo>
                  <a:lnTo>
                    <a:pt x="531253" y="5052326"/>
                  </a:lnTo>
                  <a:lnTo>
                    <a:pt x="574294" y="5068493"/>
                  </a:lnTo>
                  <a:lnTo>
                    <a:pt x="618363" y="5082387"/>
                  </a:lnTo>
                  <a:lnTo>
                    <a:pt x="663575" y="5093906"/>
                  </a:lnTo>
                  <a:lnTo>
                    <a:pt x="709549" y="5102987"/>
                  </a:lnTo>
                  <a:lnTo>
                    <a:pt x="756411" y="5109578"/>
                  </a:lnTo>
                  <a:lnTo>
                    <a:pt x="804164" y="5113578"/>
                  </a:lnTo>
                  <a:lnTo>
                    <a:pt x="852424" y="5114925"/>
                  </a:lnTo>
                  <a:lnTo>
                    <a:pt x="9967849" y="5114925"/>
                  </a:lnTo>
                  <a:lnTo>
                    <a:pt x="10016236" y="5113578"/>
                  </a:lnTo>
                  <a:lnTo>
                    <a:pt x="10063988" y="5109578"/>
                  </a:lnTo>
                  <a:lnTo>
                    <a:pt x="10110851" y="5102987"/>
                  </a:lnTo>
                  <a:lnTo>
                    <a:pt x="10156825" y="5093906"/>
                  </a:lnTo>
                  <a:lnTo>
                    <a:pt x="10202037" y="5082387"/>
                  </a:lnTo>
                  <a:lnTo>
                    <a:pt x="10246106" y="5068493"/>
                  </a:lnTo>
                  <a:lnTo>
                    <a:pt x="10289159" y="5052326"/>
                  </a:lnTo>
                  <a:lnTo>
                    <a:pt x="10331069" y="5033924"/>
                  </a:lnTo>
                  <a:lnTo>
                    <a:pt x="10371709" y="5013375"/>
                  </a:lnTo>
                  <a:lnTo>
                    <a:pt x="10411206" y="4990757"/>
                  </a:lnTo>
                  <a:lnTo>
                    <a:pt x="10449179" y="4966144"/>
                  </a:lnTo>
                  <a:lnTo>
                    <a:pt x="10485882" y="4939588"/>
                  </a:lnTo>
                  <a:lnTo>
                    <a:pt x="10521061" y="4911178"/>
                  </a:lnTo>
                  <a:lnTo>
                    <a:pt x="10554589" y="4880978"/>
                  </a:lnTo>
                  <a:lnTo>
                    <a:pt x="10586466" y="4849063"/>
                  </a:lnTo>
                  <a:lnTo>
                    <a:pt x="10616692" y="4815497"/>
                  </a:lnTo>
                  <a:lnTo>
                    <a:pt x="10645140" y="4780368"/>
                  </a:lnTo>
                  <a:lnTo>
                    <a:pt x="10671683" y="4743742"/>
                  </a:lnTo>
                  <a:lnTo>
                    <a:pt x="10696321" y="4705680"/>
                  </a:lnTo>
                  <a:lnTo>
                    <a:pt x="10718927" y="4666259"/>
                  </a:lnTo>
                  <a:lnTo>
                    <a:pt x="10739501" y="4625568"/>
                  </a:lnTo>
                  <a:lnTo>
                    <a:pt x="10757789" y="4583658"/>
                  </a:lnTo>
                  <a:lnTo>
                    <a:pt x="10774045" y="4540605"/>
                  </a:lnTo>
                  <a:lnTo>
                    <a:pt x="10787888" y="4496485"/>
                  </a:lnTo>
                  <a:lnTo>
                    <a:pt x="10799445" y="4451375"/>
                  </a:lnTo>
                  <a:lnTo>
                    <a:pt x="10808589" y="4405337"/>
                  </a:lnTo>
                  <a:lnTo>
                    <a:pt x="10815066" y="4358449"/>
                  </a:lnTo>
                  <a:lnTo>
                    <a:pt x="10819130" y="4310786"/>
                  </a:lnTo>
                  <a:lnTo>
                    <a:pt x="10820400" y="4262412"/>
                  </a:lnTo>
                  <a:lnTo>
                    <a:pt x="10820400" y="852424"/>
                  </a:lnTo>
                  <a:lnTo>
                    <a:pt x="10819130" y="804163"/>
                  </a:lnTo>
                  <a:lnTo>
                    <a:pt x="10815066" y="756412"/>
                  </a:lnTo>
                  <a:lnTo>
                    <a:pt x="10808589" y="709549"/>
                  </a:lnTo>
                  <a:lnTo>
                    <a:pt x="10799445" y="663575"/>
                  </a:lnTo>
                  <a:lnTo>
                    <a:pt x="10787888" y="618363"/>
                  </a:lnTo>
                  <a:lnTo>
                    <a:pt x="10774045" y="574294"/>
                  </a:lnTo>
                  <a:lnTo>
                    <a:pt x="10757789" y="531241"/>
                  </a:lnTo>
                  <a:lnTo>
                    <a:pt x="10739501" y="489331"/>
                  </a:lnTo>
                  <a:lnTo>
                    <a:pt x="10718927" y="448691"/>
                  </a:lnTo>
                  <a:lnTo>
                    <a:pt x="10696321" y="409321"/>
                  </a:lnTo>
                  <a:lnTo>
                    <a:pt x="10671683" y="371221"/>
                  </a:lnTo>
                  <a:lnTo>
                    <a:pt x="10645140" y="334518"/>
                  </a:lnTo>
                  <a:lnTo>
                    <a:pt x="10616692" y="299466"/>
                  </a:lnTo>
                  <a:lnTo>
                    <a:pt x="10586466" y="265938"/>
                  </a:lnTo>
                  <a:lnTo>
                    <a:pt x="10554589" y="233934"/>
                  </a:lnTo>
                  <a:lnTo>
                    <a:pt x="10521061" y="203835"/>
                  </a:lnTo>
                  <a:lnTo>
                    <a:pt x="10485882" y="175387"/>
                  </a:lnTo>
                  <a:lnTo>
                    <a:pt x="10449179" y="148844"/>
                  </a:lnTo>
                  <a:lnTo>
                    <a:pt x="10411206" y="124206"/>
                  </a:lnTo>
                  <a:lnTo>
                    <a:pt x="10371709" y="101600"/>
                  </a:lnTo>
                  <a:lnTo>
                    <a:pt x="10331069" y="81025"/>
                  </a:lnTo>
                  <a:lnTo>
                    <a:pt x="10289159" y="62611"/>
                  </a:lnTo>
                  <a:lnTo>
                    <a:pt x="10246106" y="46482"/>
                  </a:lnTo>
                  <a:lnTo>
                    <a:pt x="10202037" y="32638"/>
                  </a:lnTo>
                  <a:lnTo>
                    <a:pt x="10156825" y="21082"/>
                  </a:lnTo>
                  <a:lnTo>
                    <a:pt x="10110851" y="11937"/>
                  </a:lnTo>
                  <a:lnTo>
                    <a:pt x="10063988" y="5461"/>
                  </a:lnTo>
                  <a:lnTo>
                    <a:pt x="10016236" y="1397"/>
                  </a:lnTo>
                  <a:lnTo>
                    <a:pt x="9967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5">
              <a:extLst>
                <a:ext uri="{FF2B5EF4-FFF2-40B4-BE49-F238E27FC236}">
                  <a16:creationId xmlns:a16="http://schemas.microsoft.com/office/drawing/2014/main" id="{FF98550B-AD3D-707E-EEE1-92662B498008}"/>
                </a:ext>
              </a:extLst>
            </p:cNvPr>
            <p:cNvSpPr/>
            <p:nvPr/>
          </p:nvSpPr>
          <p:spPr>
            <a:xfrm>
              <a:off x="690880" y="1423415"/>
              <a:ext cx="10820400" cy="5114925"/>
            </a:xfrm>
            <a:custGeom>
              <a:avLst/>
              <a:gdLst/>
              <a:ahLst/>
              <a:cxnLst/>
              <a:rect l="l" t="t" r="r" b="b"/>
              <a:pathLst>
                <a:path w="10820400" h="5114925">
                  <a:moveTo>
                    <a:pt x="0" y="852424"/>
                  </a:moveTo>
                  <a:lnTo>
                    <a:pt x="1346" y="804163"/>
                  </a:lnTo>
                  <a:lnTo>
                    <a:pt x="5346" y="756412"/>
                  </a:lnTo>
                  <a:lnTo>
                    <a:pt x="11925" y="709549"/>
                  </a:lnTo>
                  <a:lnTo>
                    <a:pt x="21018" y="663575"/>
                  </a:lnTo>
                  <a:lnTo>
                    <a:pt x="32537" y="618363"/>
                  </a:lnTo>
                  <a:lnTo>
                    <a:pt x="46418" y="574294"/>
                  </a:lnTo>
                  <a:lnTo>
                    <a:pt x="62598" y="531241"/>
                  </a:lnTo>
                  <a:lnTo>
                    <a:pt x="80987" y="489331"/>
                  </a:lnTo>
                  <a:lnTo>
                    <a:pt x="101536" y="448691"/>
                  </a:lnTo>
                  <a:lnTo>
                    <a:pt x="124155" y="409321"/>
                  </a:lnTo>
                  <a:lnTo>
                    <a:pt x="148780" y="371221"/>
                  </a:lnTo>
                  <a:lnTo>
                    <a:pt x="175336" y="334518"/>
                  </a:lnTo>
                  <a:lnTo>
                    <a:pt x="203746" y="299466"/>
                  </a:lnTo>
                  <a:lnTo>
                    <a:pt x="233946" y="265938"/>
                  </a:lnTo>
                  <a:lnTo>
                    <a:pt x="265861" y="233934"/>
                  </a:lnTo>
                  <a:lnTo>
                    <a:pt x="299415" y="203835"/>
                  </a:lnTo>
                  <a:lnTo>
                    <a:pt x="334543" y="175387"/>
                  </a:lnTo>
                  <a:lnTo>
                    <a:pt x="371182" y="148844"/>
                  </a:lnTo>
                  <a:lnTo>
                    <a:pt x="409232" y="124206"/>
                  </a:lnTo>
                  <a:lnTo>
                    <a:pt x="448652" y="101600"/>
                  </a:lnTo>
                  <a:lnTo>
                    <a:pt x="489343" y="81025"/>
                  </a:lnTo>
                  <a:lnTo>
                    <a:pt x="531253" y="62611"/>
                  </a:lnTo>
                  <a:lnTo>
                    <a:pt x="574294" y="46482"/>
                  </a:lnTo>
                  <a:lnTo>
                    <a:pt x="618363" y="32638"/>
                  </a:lnTo>
                  <a:lnTo>
                    <a:pt x="663575" y="21082"/>
                  </a:lnTo>
                  <a:lnTo>
                    <a:pt x="709549" y="11937"/>
                  </a:lnTo>
                  <a:lnTo>
                    <a:pt x="756411" y="5461"/>
                  </a:lnTo>
                  <a:lnTo>
                    <a:pt x="804164" y="1397"/>
                  </a:lnTo>
                  <a:lnTo>
                    <a:pt x="852424" y="0"/>
                  </a:lnTo>
                  <a:lnTo>
                    <a:pt x="9967849" y="0"/>
                  </a:lnTo>
                  <a:lnTo>
                    <a:pt x="10016236" y="1397"/>
                  </a:lnTo>
                  <a:lnTo>
                    <a:pt x="10063988" y="5461"/>
                  </a:lnTo>
                  <a:lnTo>
                    <a:pt x="10110851" y="11937"/>
                  </a:lnTo>
                  <a:lnTo>
                    <a:pt x="10156825" y="21082"/>
                  </a:lnTo>
                  <a:lnTo>
                    <a:pt x="10202037" y="32638"/>
                  </a:lnTo>
                  <a:lnTo>
                    <a:pt x="10246106" y="46482"/>
                  </a:lnTo>
                  <a:lnTo>
                    <a:pt x="10289159" y="62611"/>
                  </a:lnTo>
                  <a:lnTo>
                    <a:pt x="10331069" y="81025"/>
                  </a:lnTo>
                  <a:lnTo>
                    <a:pt x="10371709" y="101600"/>
                  </a:lnTo>
                  <a:lnTo>
                    <a:pt x="10411206" y="124206"/>
                  </a:lnTo>
                  <a:lnTo>
                    <a:pt x="10449179" y="148844"/>
                  </a:lnTo>
                  <a:lnTo>
                    <a:pt x="10485882" y="175387"/>
                  </a:lnTo>
                  <a:lnTo>
                    <a:pt x="10521061" y="203835"/>
                  </a:lnTo>
                  <a:lnTo>
                    <a:pt x="10554589" y="233934"/>
                  </a:lnTo>
                  <a:lnTo>
                    <a:pt x="10586466" y="265938"/>
                  </a:lnTo>
                  <a:lnTo>
                    <a:pt x="10616692" y="299466"/>
                  </a:lnTo>
                  <a:lnTo>
                    <a:pt x="10645140" y="334518"/>
                  </a:lnTo>
                  <a:lnTo>
                    <a:pt x="10671683" y="371221"/>
                  </a:lnTo>
                  <a:lnTo>
                    <a:pt x="10696321" y="409321"/>
                  </a:lnTo>
                  <a:lnTo>
                    <a:pt x="10718927" y="448691"/>
                  </a:lnTo>
                  <a:lnTo>
                    <a:pt x="10739501" y="489331"/>
                  </a:lnTo>
                  <a:lnTo>
                    <a:pt x="10757789" y="531241"/>
                  </a:lnTo>
                  <a:lnTo>
                    <a:pt x="10774045" y="574294"/>
                  </a:lnTo>
                  <a:lnTo>
                    <a:pt x="10787888" y="618363"/>
                  </a:lnTo>
                  <a:lnTo>
                    <a:pt x="10799445" y="663575"/>
                  </a:lnTo>
                  <a:lnTo>
                    <a:pt x="10808589" y="709549"/>
                  </a:lnTo>
                  <a:lnTo>
                    <a:pt x="10815066" y="756412"/>
                  </a:lnTo>
                  <a:lnTo>
                    <a:pt x="10819130" y="804163"/>
                  </a:lnTo>
                  <a:lnTo>
                    <a:pt x="10820400" y="852424"/>
                  </a:lnTo>
                  <a:lnTo>
                    <a:pt x="10820400" y="4262412"/>
                  </a:lnTo>
                  <a:lnTo>
                    <a:pt x="10819130" y="4310786"/>
                  </a:lnTo>
                  <a:lnTo>
                    <a:pt x="10815066" y="4358449"/>
                  </a:lnTo>
                  <a:lnTo>
                    <a:pt x="10808589" y="4405337"/>
                  </a:lnTo>
                  <a:lnTo>
                    <a:pt x="10799445" y="4451375"/>
                  </a:lnTo>
                  <a:lnTo>
                    <a:pt x="10787888" y="4496485"/>
                  </a:lnTo>
                  <a:lnTo>
                    <a:pt x="10774045" y="4540605"/>
                  </a:lnTo>
                  <a:lnTo>
                    <a:pt x="10757789" y="4583658"/>
                  </a:lnTo>
                  <a:lnTo>
                    <a:pt x="10739501" y="4625568"/>
                  </a:lnTo>
                  <a:lnTo>
                    <a:pt x="10718927" y="4666259"/>
                  </a:lnTo>
                  <a:lnTo>
                    <a:pt x="10696321" y="4705680"/>
                  </a:lnTo>
                  <a:lnTo>
                    <a:pt x="10671683" y="4743742"/>
                  </a:lnTo>
                  <a:lnTo>
                    <a:pt x="10645140" y="4780368"/>
                  </a:lnTo>
                  <a:lnTo>
                    <a:pt x="10616692" y="4815497"/>
                  </a:lnTo>
                  <a:lnTo>
                    <a:pt x="10586466" y="4849063"/>
                  </a:lnTo>
                  <a:lnTo>
                    <a:pt x="10554589" y="4880978"/>
                  </a:lnTo>
                  <a:lnTo>
                    <a:pt x="10521061" y="4911178"/>
                  </a:lnTo>
                  <a:lnTo>
                    <a:pt x="10485882" y="4939588"/>
                  </a:lnTo>
                  <a:lnTo>
                    <a:pt x="10449179" y="4966144"/>
                  </a:lnTo>
                  <a:lnTo>
                    <a:pt x="10411206" y="4990757"/>
                  </a:lnTo>
                  <a:lnTo>
                    <a:pt x="10371709" y="5013375"/>
                  </a:lnTo>
                  <a:lnTo>
                    <a:pt x="10331069" y="5033924"/>
                  </a:lnTo>
                  <a:lnTo>
                    <a:pt x="10289159" y="5052326"/>
                  </a:lnTo>
                  <a:lnTo>
                    <a:pt x="10246106" y="5068493"/>
                  </a:lnTo>
                  <a:lnTo>
                    <a:pt x="10202037" y="5082387"/>
                  </a:lnTo>
                  <a:lnTo>
                    <a:pt x="10156825" y="5093906"/>
                  </a:lnTo>
                  <a:lnTo>
                    <a:pt x="10110851" y="5102987"/>
                  </a:lnTo>
                  <a:lnTo>
                    <a:pt x="10063988" y="5109578"/>
                  </a:lnTo>
                  <a:lnTo>
                    <a:pt x="10016236" y="5113578"/>
                  </a:lnTo>
                  <a:lnTo>
                    <a:pt x="9967849" y="5114925"/>
                  </a:lnTo>
                  <a:lnTo>
                    <a:pt x="852424" y="5114925"/>
                  </a:lnTo>
                  <a:lnTo>
                    <a:pt x="804164" y="5113578"/>
                  </a:lnTo>
                  <a:lnTo>
                    <a:pt x="756411" y="5109578"/>
                  </a:lnTo>
                  <a:lnTo>
                    <a:pt x="709549" y="5102987"/>
                  </a:lnTo>
                  <a:lnTo>
                    <a:pt x="663575" y="5093906"/>
                  </a:lnTo>
                  <a:lnTo>
                    <a:pt x="618363" y="5082387"/>
                  </a:lnTo>
                  <a:lnTo>
                    <a:pt x="574294" y="5068493"/>
                  </a:lnTo>
                  <a:lnTo>
                    <a:pt x="531253" y="5052326"/>
                  </a:lnTo>
                  <a:lnTo>
                    <a:pt x="489343" y="5033924"/>
                  </a:lnTo>
                  <a:lnTo>
                    <a:pt x="448652" y="5013375"/>
                  </a:lnTo>
                  <a:lnTo>
                    <a:pt x="409232" y="4990757"/>
                  </a:lnTo>
                  <a:lnTo>
                    <a:pt x="371182" y="4966144"/>
                  </a:lnTo>
                  <a:lnTo>
                    <a:pt x="334543" y="4939588"/>
                  </a:lnTo>
                  <a:lnTo>
                    <a:pt x="299415" y="4911178"/>
                  </a:lnTo>
                  <a:lnTo>
                    <a:pt x="265861" y="4880978"/>
                  </a:lnTo>
                  <a:lnTo>
                    <a:pt x="233946" y="4849063"/>
                  </a:lnTo>
                  <a:lnTo>
                    <a:pt x="203746" y="4815497"/>
                  </a:lnTo>
                  <a:lnTo>
                    <a:pt x="175336" y="4780368"/>
                  </a:lnTo>
                  <a:lnTo>
                    <a:pt x="148780" y="4743742"/>
                  </a:lnTo>
                  <a:lnTo>
                    <a:pt x="124155" y="4705680"/>
                  </a:lnTo>
                  <a:lnTo>
                    <a:pt x="101536" y="4666259"/>
                  </a:lnTo>
                  <a:lnTo>
                    <a:pt x="80987" y="4625568"/>
                  </a:lnTo>
                  <a:lnTo>
                    <a:pt x="62598" y="4583658"/>
                  </a:lnTo>
                  <a:lnTo>
                    <a:pt x="46418" y="4540605"/>
                  </a:lnTo>
                  <a:lnTo>
                    <a:pt x="32537" y="4496485"/>
                  </a:lnTo>
                  <a:lnTo>
                    <a:pt x="21018" y="4451375"/>
                  </a:lnTo>
                  <a:lnTo>
                    <a:pt x="11925" y="4405337"/>
                  </a:lnTo>
                  <a:lnTo>
                    <a:pt x="5346" y="4358449"/>
                  </a:lnTo>
                  <a:lnTo>
                    <a:pt x="1346" y="4310786"/>
                  </a:lnTo>
                  <a:lnTo>
                    <a:pt x="0" y="4262412"/>
                  </a:lnTo>
                  <a:lnTo>
                    <a:pt x="0" y="852424"/>
                  </a:lnTo>
                  <a:close/>
                </a:path>
              </a:pathLst>
            </a:custGeom>
            <a:ln w="12700">
              <a:solidFill>
                <a:srgbClr val="D5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6">
              <a:extLst>
                <a:ext uri="{FF2B5EF4-FFF2-40B4-BE49-F238E27FC236}">
                  <a16:creationId xmlns:a16="http://schemas.microsoft.com/office/drawing/2014/main" id="{AEF5EACA-2E41-8662-20C2-76BE9EB97B7A}"/>
                </a:ext>
              </a:extLst>
            </p:cNvPr>
            <p:cNvSpPr/>
            <p:nvPr/>
          </p:nvSpPr>
          <p:spPr>
            <a:xfrm>
              <a:off x="5078" y="6547866"/>
              <a:ext cx="12187555" cy="9525"/>
            </a:xfrm>
            <a:custGeom>
              <a:avLst/>
              <a:gdLst/>
              <a:ahLst/>
              <a:cxnLst/>
              <a:rect l="l" t="t" r="r" b="b"/>
              <a:pathLst>
                <a:path w="12187555" h="9525">
                  <a:moveTo>
                    <a:pt x="12187174" y="0"/>
                  </a:moveTo>
                  <a:lnTo>
                    <a:pt x="0" y="0"/>
                  </a:lnTo>
                  <a:lnTo>
                    <a:pt x="0" y="9524"/>
                  </a:lnTo>
                  <a:lnTo>
                    <a:pt x="12187174" y="9524"/>
                  </a:lnTo>
                  <a:lnTo>
                    <a:pt x="12187174" y="0"/>
                  </a:lnTo>
                  <a:close/>
                </a:path>
              </a:pathLst>
            </a:custGeom>
            <a:solidFill>
              <a:srgbClr val="D5DE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7">
              <a:extLst>
                <a:ext uri="{FF2B5EF4-FFF2-40B4-BE49-F238E27FC236}">
                  <a16:creationId xmlns:a16="http://schemas.microsoft.com/office/drawing/2014/main" id="{63645DA6-0EB0-1931-BD93-8815BD50763E}"/>
                </a:ext>
              </a:extLst>
            </p:cNvPr>
            <p:cNvSpPr/>
            <p:nvPr/>
          </p:nvSpPr>
          <p:spPr>
            <a:xfrm>
              <a:off x="5078" y="6547866"/>
              <a:ext cx="12187555" cy="9525"/>
            </a:xfrm>
            <a:custGeom>
              <a:avLst/>
              <a:gdLst/>
              <a:ahLst/>
              <a:cxnLst/>
              <a:rect l="l" t="t" r="r" b="b"/>
              <a:pathLst>
                <a:path w="12187555" h="9525">
                  <a:moveTo>
                    <a:pt x="12187175" y="0"/>
                  </a:moveTo>
                  <a:lnTo>
                    <a:pt x="0" y="0"/>
                  </a:lnTo>
                  <a:lnTo>
                    <a:pt x="0" y="9524"/>
                  </a:lnTo>
                  <a:lnTo>
                    <a:pt x="12187175" y="9524"/>
                  </a:lnTo>
                </a:path>
              </a:pathLst>
            </a:custGeom>
            <a:ln w="12700">
              <a:solidFill>
                <a:srgbClr val="D5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8">
            <a:extLst>
              <a:ext uri="{FF2B5EF4-FFF2-40B4-BE49-F238E27FC236}">
                <a16:creationId xmlns:a16="http://schemas.microsoft.com/office/drawing/2014/main" id="{64270DFE-C798-68A1-FE09-70CD4FA36867}"/>
              </a:ext>
            </a:extLst>
          </p:cNvPr>
          <p:cNvSpPr/>
          <p:nvPr/>
        </p:nvSpPr>
        <p:spPr>
          <a:xfrm>
            <a:off x="972820" y="2424556"/>
            <a:ext cx="10267950" cy="1924050"/>
          </a:xfrm>
          <a:custGeom>
            <a:avLst/>
            <a:gdLst/>
            <a:ahLst/>
            <a:cxnLst/>
            <a:rect l="l" t="t" r="r" b="b"/>
            <a:pathLst>
              <a:path w="10267950" h="1924050">
                <a:moveTo>
                  <a:pt x="1333500" y="0"/>
                </a:moveTo>
                <a:lnTo>
                  <a:pt x="0" y="0"/>
                </a:lnTo>
                <a:lnTo>
                  <a:pt x="0" y="1924050"/>
                </a:lnTo>
                <a:lnTo>
                  <a:pt x="1333500" y="1924050"/>
                </a:lnTo>
                <a:lnTo>
                  <a:pt x="1333500" y="0"/>
                </a:lnTo>
                <a:close/>
              </a:path>
              <a:path w="10267950" h="1924050">
                <a:moveTo>
                  <a:pt x="10267950" y="0"/>
                </a:moveTo>
                <a:lnTo>
                  <a:pt x="1333627" y="0"/>
                </a:lnTo>
                <a:lnTo>
                  <a:pt x="1333627" y="1924050"/>
                </a:lnTo>
                <a:lnTo>
                  <a:pt x="10267950" y="1924050"/>
                </a:lnTo>
                <a:lnTo>
                  <a:pt x="10267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9">
            <a:extLst>
              <a:ext uri="{FF2B5EF4-FFF2-40B4-BE49-F238E27FC236}">
                <a16:creationId xmlns:a16="http://schemas.microsoft.com/office/drawing/2014/main" id="{930EFC1E-1D81-03C1-4E72-10B0C5E71AEF}"/>
              </a:ext>
            </a:extLst>
          </p:cNvPr>
          <p:cNvSpPr txBox="1"/>
          <p:nvPr/>
        </p:nvSpPr>
        <p:spPr>
          <a:xfrm>
            <a:off x="10424921" y="156464"/>
            <a:ext cx="1428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SoI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Innovation</a:t>
            </a:r>
            <a:r>
              <a:rPr sz="1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12">
            <a:extLst>
              <a:ext uri="{FF2B5EF4-FFF2-40B4-BE49-F238E27FC236}">
                <a16:creationId xmlns:a16="http://schemas.microsoft.com/office/drawing/2014/main" id="{3396A165-862B-BF72-8435-D05537A11674}"/>
              </a:ext>
            </a:extLst>
          </p:cNvPr>
          <p:cNvSpPr txBox="1">
            <a:spLocks/>
          </p:cNvSpPr>
          <p:nvPr/>
        </p:nvSpPr>
        <p:spPr>
          <a:xfrm>
            <a:off x="526795" y="6692518"/>
            <a:ext cx="1592199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">
              <a:lnSpc>
                <a:spcPts val="1000"/>
              </a:lnSpc>
            </a:pPr>
            <a:r>
              <a:rPr lang="en-US"/>
              <a:t>MVP</a:t>
            </a:r>
            <a:r>
              <a:rPr lang="en-US" spc="75"/>
              <a:t> </a:t>
            </a:r>
            <a:r>
              <a:rPr lang="en-US"/>
              <a:t>Stage</a:t>
            </a:r>
            <a:r>
              <a:rPr lang="en-US" spc="65"/>
              <a:t> </a:t>
            </a:r>
            <a:r>
              <a:rPr lang="en-US"/>
              <a:t>—</a:t>
            </a:r>
            <a:r>
              <a:rPr lang="en-US" spc="80"/>
              <a:t> </a:t>
            </a:r>
            <a:r>
              <a:rPr lang="en-US"/>
              <a:t>Submission</a:t>
            </a:r>
            <a:r>
              <a:rPr lang="en-US" spc="70"/>
              <a:t> </a:t>
            </a:r>
            <a:r>
              <a:rPr lang="en-US" spc="-20"/>
              <a:t>Deck</a:t>
            </a:r>
            <a:endParaRPr lang="en-US" spc="-20" dirty="0"/>
          </a:p>
        </p:txBody>
      </p:sp>
      <p:graphicFrame>
        <p:nvGraphicFramePr>
          <p:cNvPr id="51" name="object 11">
            <a:extLst>
              <a:ext uri="{FF2B5EF4-FFF2-40B4-BE49-F238E27FC236}">
                <a16:creationId xmlns:a16="http://schemas.microsoft.com/office/drawing/2014/main" id="{D4AE0716-A027-5413-51B5-CDF7F3E673B3}"/>
              </a:ext>
            </a:extLst>
          </p:cNvPr>
          <p:cNvGraphicFramePr>
            <a:graphicFrameLocks noGrp="1"/>
          </p:cNvGraphicFramePr>
          <p:nvPr/>
        </p:nvGraphicFramePr>
        <p:xfrm>
          <a:off x="960119" y="1780286"/>
          <a:ext cx="10269220" cy="2560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7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066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8279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018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Reason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8279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EC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Prototype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build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20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MVP</a:t>
                      </a:r>
                      <a:r>
                        <a:rPr sz="1200" spc="15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v1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Added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upload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53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setup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200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MVP</a:t>
                      </a:r>
                      <a:r>
                        <a:rPr sz="1200" spc="15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091724"/>
                          </a:solidFill>
                          <a:latin typeface="Calibri"/>
                          <a:cs typeface="Calibri"/>
                        </a:rPr>
                        <a:t>v2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1535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UI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535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feedback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1535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usability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5DEE7"/>
                      </a:solidFill>
                      <a:prstDash val="solid"/>
                    </a:lnL>
                    <a:lnR w="12700">
                      <a:solidFill>
                        <a:srgbClr val="D5DEE7"/>
                      </a:solidFill>
                      <a:prstDash val="solid"/>
                    </a:lnR>
                    <a:lnT w="12700">
                      <a:solidFill>
                        <a:srgbClr val="D5DEE7"/>
                      </a:solidFill>
                      <a:prstDash val="solid"/>
                    </a:lnT>
                    <a:lnB w="12700">
                      <a:solidFill>
                        <a:srgbClr val="D5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Pain-Point Proof (Critical Slide)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057859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9848" y="1837944"/>
            <a:ext cx="3838403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pain 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17979" y="1783080"/>
            <a:ext cx="4438283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27707" y="1837944"/>
            <a:ext cx="4218827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evidence (metrics + user feedback)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56262" y="1783080"/>
            <a:ext cx="1775313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565990" y="1837944"/>
            <a:ext cx="1555857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2560320"/>
            <a:ext cx="405785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69848" y="2615184"/>
            <a:ext cx="3838403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/>
              <a:t>College students struggle to find reliable notes and past papers because resources are scattered across multiple platforms.</a:t>
            </a:r>
          </a:p>
        </p:txBody>
      </p:sp>
      <p:sp>
        <p:nvSpPr>
          <p:cNvPr id="14" name="Shape 12"/>
          <p:cNvSpPr/>
          <p:nvPr/>
        </p:nvSpPr>
        <p:spPr>
          <a:xfrm>
            <a:off x="5017979" y="2560320"/>
            <a:ext cx="4438283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27707" y="2615184"/>
            <a:ext cx="4218827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/>
              <a:t>• Students found study materials in </a:t>
            </a:r>
            <a:r>
              <a:rPr lang="en-US" sz="1100" b="1" dirty="0"/>
              <a:t>~1 minute instead of searching multiple drives</a:t>
            </a:r>
            <a:br>
              <a:rPr lang="en-US" sz="1100" dirty="0"/>
            </a:br>
            <a:r>
              <a:rPr lang="en-US" sz="1100" dirty="0"/>
              <a:t>• </a:t>
            </a:r>
            <a:r>
              <a:rPr lang="en-US" sz="1100" b="1" dirty="0"/>
              <a:t>85% task success rate</a:t>
            </a:r>
            <a:r>
              <a:rPr lang="en-US" sz="1100" dirty="0"/>
              <a:t> during testing</a:t>
            </a:r>
            <a:br>
              <a:rPr lang="en-US" sz="1100" dirty="0"/>
            </a:br>
            <a:r>
              <a:rPr lang="en-US" sz="1100" dirty="0"/>
              <a:t>• </a:t>
            </a:r>
            <a:r>
              <a:rPr lang="en-US" sz="1100" b="1" dirty="0"/>
              <a:t>82% user satisfaction</a:t>
            </a:r>
            <a:r>
              <a:rPr lang="en-US" sz="1100" dirty="0"/>
              <a:t> from feedback forms</a:t>
            </a:r>
          </a:p>
        </p:txBody>
      </p:sp>
      <p:sp>
        <p:nvSpPr>
          <p:cNvPr id="16" name="Shape 14"/>
          <p:cNvSpPr/>
          <p:nvPr/>
        </p:nvSpPr>
        <p:spPr>
          <a:xfrm>
            <a:off x="9456262" y="2560320"/>
            <a:ext cx="1775313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65990" y="2615184"/>
            <a:ext cx="1555857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544068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 (What to capture)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photos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• Screenshot of Campus Connect login and dashboard</a:t>
            </a:r>
            <a:br>
              <a:rPr lang="en-US" dirty="0"/>
            </a:br>
            <a:r>
              <a:rPr lang="en-US" dirty="0"/>
              <a:t>• Screenshot of uploading notes and downloading study materials</a:t>
            </a:r>
            <a:br>
              <a:rPr lang="en-US" dirty="0"/>
            </a:br>
            <a:r>
              <a:rPr lang="en-US" dirty="0"/>
              <a:t>• Screenshot of students using the platform during testing</a:t>
            </a:r>
            <a:br>
              <a:rPr lang="en-US" dirty="0"/>
            </a:br>
            <a:r>
              <a:rPr lang="en-US" dirty="0"/>
              <a:t>• Screenshot showing successful file upload/download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/ data / forms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• User activity logs (number of logins, uploads, downloads)</a:t>
            </a:r>
            <a:br>
              <a:rPr lang="en-US" dirty="0"/>
            </a:br>
            <a:r>
              <a:rPr lang="en-US" dirty="0"/>
              <a:t>• MVP metrics table (time to find notes, task success rate, user satisfaction)</a:t>
            </a:r>
            <a:br>
              <a:rPr lang="en-US" dirty="0"/>
            </a:br>
            <a:r>
              <a:rPr lang="en-US" dirty="0"/>
              <a:t>• Google Form feedback responses from students</a:t>
            </a:r>
            <a:br>
              <a:rPr lang="en-US" dirty="0"/>
            </a:br>
            <a:r>
              <a:rPr lang="en-US" dirty="0"/>
              <a:t>• User consent for testing the platform</a:t>
            </a:r>
            <a:br>
              <a:rPr lang="en-US" dirty="0"/>
            </a:br>
            <a:r>
              <a:rPr lang="en-US" dirty="0"/>
              <a:t>• Iteration notes showing improvements made after feedback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320040" cy="6044184"/>
          </a:xfrm>
          <a:prstGeom prst="rect">
            <a:avLst/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Campus Connect MVP results, demo video, and supporting artifacts are presented in this section to demonstrate the working solution and its impact.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(MP4 ≤ 2 minutes) + Artifacts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demo script (suggested)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0:00–0:15  Problem + end-user (1 sentence)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0:15–0:40  Show MVP starting point (login/setup)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0:40–1:20  End-to-end user journey (core flow)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1:20–1:40  Show outcome/metric on screen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1:40–2:00  Feedback + iteration highlight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920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(paste)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251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500" dirty="0" err="1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Repolink</a:t>
            </a: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IN" sz="1400" dirty="0"/>
              <a:t>https://github.com/KanishkaCU/CampusConnectf.git</a:t>
            </a:r>
            <a:endParaRPr lang="en-IN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folder link (CAD/notebooks/logs):</a:t>
            </a:r>
            <a:endParaRPr lang="en-US" sz="1500" dirty="0"/>
          </a:p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 (optional): </a:t>
            </a:r>
            <a:r>
              <a:rPr lang="en-IN" sz="1100" dirty="0">
                <a:hlinkClick r:id="rId3"/>
              </a:rPr>
              <a:t>https://drive.google.com/file/d/1aJWbhq1K-Y0TF-XFvYIoQh9xRITBT0ap/view?usp=sharing</a:t>
            </a:r>
            <a:endParaRPr lang="en-IN" sz="11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3886200"/>
            <a:ext cx="4892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4114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checklist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452628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Deck (.pptx)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Demo video (.mp4)</a:t>
            </a:r>
            <a:endParaRPr lang="en-US" sz="15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t>Ensure links work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Next Steps &amp; Direction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760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mitigations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Risk 1:</a:t>
            </a:r>
            <a:r>
              <a:rPr lang="en-US" sz="1400" dirty="0"/>
              <a:t> Low number of students uploading study materials</a:t>
            </a:r>
            <a:br>
              <a:rPr lang="en-US" sz="1400" dirty="0"/>
            </a:br>
            <a:r>
              <a:rPr lang="en-US" sz="1400" b="1" dirty="0"/>
              <a:t>Mitigation:</a:t>
            </a:r>
            <a:r>
              <a:rPr lang="en-US" sz="1400" dirty="0"/>
              <a:t> Encourage seniors to contribute notes and provide easy upload features.</a:t>
            </a:r>
          </a:p>
          <a:p>
            <a:r>
              <a:rPr lang="en-US" sz="1400" b="1" dirty="0"/>
              <a:t>Risk 2:</a:t>
            </a:r>
            <a:r>
              <a:rPr lang="en-US" sz="1400" dirty="0"/>
              <a:t> Users may find it difficult to search for specific notes</a:t>
            </a:r>
            <a:br>
              <a:rPr lang="en-US" sz="1400" dirty="0"/>
            </a:br>
            <a:r>
              <a:rPr lang="en-US" sz="1400" b="1" dirty="0"/>
              <a:t>Mitigation:</a:t>
            </a:r>
            <a:r>
              <a:rPr lang="en-US" sz="1400" dirty="0"/>
              <a:t> Improve search filters by subject, semester, and department.</a:t>
            </a:r>
          </a:p>
          <a:p>
            <a:r>
              <a:rPr lang="en-US" sz="1400" b="1" dirty="0"/>
              <a:t>Risk 3:</a:t>
            </a:r>
            <a:r>
              <a:rPr lang="en-US" sz="1400" dirty="0"/>
              <a:t> Limited user testing during MVP stage</a:t>
            </a:r>
            <a:br>
              <a:rPr lang="en-US" sz="1400" dirty="0"/>
            </a:br>
            <a:r>
              <a:rPr lang="en-US" sz="1400" b="1" dirty="0"/>
              <a:t>Mitigation:</a:t>
            </a:r>
            <a:r>
              <a:rPr lang="en-US" sz="1400" dirty="0"/>
              <a:t> Expand testing to more students in the next phase.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443484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(based on evidence)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50749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REFINE (partial)  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1417320"/>
            <a:ext cx="4892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(March Demo Day readiness)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251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• Improve UI/UX for better navigation</a:t>
            </a:r>
            <a:br>
              <a:rPr lang="en-US" dirty="0"/>
            </a:br>
            <a:r>
              <a:rPr lang="en-US" dirty="0"/>
              <a:t>• Increase number of users testing the platform</a:t>
            </a:r>
            <a:br>
              <a:rPr lang="en-US" dirty="0"/>
            </a:br>
            <a:r>
              <a:rPr lang="en-US" dirty="0"/>
              <a:t>• Add better search and categorization features</a:t>
            </a:r>
            <a:br>
              <a:rPr lang="en-US" dirty="0"/>
            </a:br>
            <a:r>
              <a:rPr lang="en-US" dirty="0"/>
              <a:t>• Improve reliability and security of the platform</a:t>
            </a:r>
            <a:br>
              <a:rPr lang="en-US" dirty="0"/>
            </a:br>
            <a:r>
              <a:rPr lang="en-US" dirty="0"/>
              <a:t>• Prepare demo showing </a:t>
            </a:r>
            <a:r>
              <a:rPr lang="en-US" b="1" dirty="0"/>
              <a:t>problem → solution → results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555"/>
          </a:solidFill>
          <a:ln w="12700">
            <a:solidFill>
              <a:srgbClr val="0B3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0" y="109728"/>
            <a:ext cx="11917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Innovation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(IEEE format)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200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references here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80015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[1] M. Fowler, </a:t>
            </a:r>
            <a:r>
              <a:rPr lang="en-US" sz="1600" i="1" dirty="0"/>
              <a:t>Web Application Architecture Principles</a:t>
            </a:r>
            <a:r>
              <a:rPr lang="en-US" sz="1600" dirty="0"/>
              <a:t>, IEEE Software, 2020.</a:t>
            </a:r>
          </a:p>
          <a:p>
            <a:r>
              <a:rPr lang="en-US" sz="1600" dirty="0"/>
              <a:t>[2] Firebase Documentation, “Cloud Storage for Web Applications,” Google, 2023. [Online]. Available: </a:t>
            </a:r>
            <a:r>
              <a:rPr lang="en-US" sz="1600" dirty="0">
                <a:hlinkClick r:id="rId3"/>
              </a:rPr>
              <a:t>https://firebase.google.com/docs</a:t>
            </a:r>
            <a:r>
              <a:rPr lang="en-US" sz="1600" dirty="0"/>
              <a:t>. (accessed: 2026-03-09).</a:t>
            </a:r>
          </a:p>
          <a:p>
            <a:r>
              <a:rPr lang="en-US" sz="1600" dirty="0"/>
              <a:t>[3] MongoDB Inc., “MongoDB Atlas Database Documentation,” 2023. [Online]. Available: </a:t>
            </a:r>
            <a:r>
              <a:rPr lang="en-US" sz="1600" dirty="0">
                <a:hlinkClick r:id="rId4"/>
              </a:rPr>
              <a:t>https://www.mongodb.com/docs</a:t>
            </a:r>
            <a:r>
              <a:rPr lang="en-US" sz="1600" dirty="0"/>
              <a:t>. (accessed: 2026-03-09).</a:t>
            </a:r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1695" cy="9144"/>
          </a:xfrm>
          <a:prstGeom prst="rect">
            <a:avLst/>
          </a:prstGeom>
          <a:solidFill>
            <a:srgbClr val="D7DEE7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66019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Stage — Submission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85855" y="6601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4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48401b-810c-410e-b8eb-6ff04b2b747f">
      <Terms xmlns="http://schemas.microsoft.com/office/infopath/2007/PartnerControls"/>
    </lcf76f155ced4ddcb4097134ff3c332f>
    <TaxCatchAll xmlns="06450489-62f6-413e-8592-e63214e705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7AE85E340D941B9801BD6724F0635" ma:contentTypeVersion="11" ma:contentTypeDescription="Create a new document." ma:contentTypeScope="" ma:versionID="1a7daa832e961b6d98553051cd5f569d">
  <xsd:schema xmlns:xsd="http://www.w3.org/2001/XMLSchema" xmlns:xs="http://www.w3.org/2001/XMLSchema" xmlns:p="http://schemas.microsoft.com/office/2006/metadata/properties" xmlns:ns2="a348401b-810c-410e-b8eb-6ff04b2b747f" xmlns:ns3="06450489-62f6-413e-8592-e63214e70580" targetNamespace="http://schemas.microsoft.com/office/2006/metadata/properties" ma:root="true" ma:fieldsID="6f49698a57253a0a4461b9392e136524" ns2:_="" ns3:_="">
    <xsd:import namespace="a348401b-810c-410e-b8eb-6ff04b2b747f"/>
    <xsd:import namespace="06450489-62f6-413e-8592-e63214e705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8401b-810c-410e-b8eb-6ff04b2b7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50489-62f6-413e-8592-e63214e7058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b7df508-71ea-4857-a0ed-5b3224f68543}" ma:internalName="TaxCatchAll" ma:showField="CatchAllData" ma:web="06450489-62f6-413e-8592-e63214e705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B49624-9663-4816-A4DB-B57183422F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F52184-9636-4B8F-A71E-BDBE46FEFE84}">
  <ds:schemaRefs>
    <ds:schemaRef ds:uri="http://schemas.microsoft.com/office/2006/metadata/properties"/>
    <ds:schemaRef ds:uri="http://schemas.microsoft.com/office/infopath/2007/PartnerControls"/>
    <ds:schemaRef ds:uri="a348401b-810c-410e-b8eb-6ff04b2b747f"/>
    <ds:schemaRef ds:uri="06450489-62f6-413e-8592-e63214e70580"/>
  </ds:schemaRefs>
</ds:datastoreItem>
</file>

<file path=customXml/itemProps3.xml><?xml version="1.0" encoding="utf-8"?>
<ds:datastoreItem xmlns:ds="http://schemas.openxmlformats.org/officeDocument/2006/customXml" ds:itemID="{99EA0300-B279-4955-9485-2252BDF2EE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48401b-810c-410e-b8eb-6ff04b2b747f"/>
    <ds:schemaRef ds:uri="06450489-62f6-413e-8592-e63214e705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2592</Words>
  <Application>Microsoft Office PowerPoint</Application>
  <PresentationFormat>Widescreen</PresentationFormat>
  <Paragraphs>371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UI 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KGISL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 MVP Stage Template</dc:title>
  <dc:subject>SoI MVP Stage Submission Deck Template</dc:subject>
  <dc:creator>Thiruvaazhi Uloli</dc:creator>
  <cp:lastModifiedBy>kanish Kanishka</cp:lastModifiedBy>
  <cp:revision>4</cp:revision>
  <dcterms:created xsi:type="dcterms:W3CDTF">2026-02-11T11:27:36Z</dcterms:created>
  <dcterms:modified xsi:type="dcterms:W3CDTF">2026-03-19T10:19:55Z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0x0101009687AE85E340D941B9801BD6724F0635</vt:lpwstr>
  </property>
</Properties>
</file>